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card. Don't read it. 10 seconds: who you are, what it is in one sentence — opponent scouting from official US chess tournament data — live dashboard demo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this project. Players prep by glancing at rating alone. Rating doesn't show form, activity, upsets, momentum. After the 2020 online boom, ratings lag actual strength. Goal: a real scouting picture.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Dataset. Public USCF crosstables — not a Kaggle download. Custom scraper, polite. 4,292 cached HTML pages, 8,514 clean games, 179 focal players, 24-year date range. Binary win / not-win, near-balanced classes.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important slide. During EDA, rating_diff was correlated MINUS 0.13 with winning — impossible. Found the regex was grabbing the USCF ID instead of the rating. Re-parsed all 4,292 cached pages. Correlation flipped to plus 0.49. Elo AUC from 0.37 to 0.825. Domain knowledge caught it, not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EDA highlights. Near-balanced outcomes, huge rating range from kids to GMs, rating_diff unimodal around zero, redundancy audit caught the obvious collinearity. Bigger rating advantage cleanly maps to higher win probability.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Literature review. Anchored on classical rating systems — Elo, Glicko, TrueSkill. Pulled in DeepChess and chess-ML papers. Brought in momentum and fatigue literature for the secondary features. Full 15-reference review lives in docs.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Methodology. Chronological 70/15/15 split — no future leaks into past. TimeSeriesSplit 5-fold inside training for hyperparameter tuning. Four models: Logistic Regression as benchmark, RF, GB, and Elo zero-shot. All five metrics on all three splits.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 table. Gradient Boosting is best ML at 0.8248 test AUC. Per-fold standard deviation under 0.015 — stable, not lucky. 1,278 held-out games.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finding. ML and Elo tie within 0.002 AUC. Rating is 55% of feature importance; activity and form together add about 13% — real but secondary. Story: rating dominates, momentum fine-tunes. Product value lives ABOVE the model — in the scouting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credit: Claude Opus 4.7 reasoned through 60 held-out rows. Highest F1 of any approach. Lower AUC because LLM probability calibration is weaker than supervised ML. Matches on decisions, trails on calibration.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Segue. The model is the floor; the scouting report is the product. 0-100 Underrated Potential, six interpretable subscores, plus travel, time-control, and prep tips. Switching to the live dashboard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Limits. Scouting signal, not accusation — never the word 'smurf'. Rating is still strongest single predictor. Travel is approximate. rating_change features are proxies. Future: live USCF lookup, deeper geocoding, predict-rating-gain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Rubric map on the left. Take-home on the right: rating tells you who's favored, scouting tells you who you're actually facing. Repo and live app links.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974380"/>
            <a:ext cx="16678275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00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ML FINAL PROJECT · ACCESS GRANTED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3666530"/>
            <a:ext cx="16678275" cy="243840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16200000">
              <a:srgbClr val="7AF7FF">
                <a:alpha val="45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0" b="1" spc="450" kern="0" dirty="0">
                <a:solidFill>
                  <a:srgbClr val="7A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USCF CYBERDECK SCOUT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1047750" y="6371630"/>
            <a:ext cx="3048000" cy="19050"/>
          </a:xfrm>
          <a:prstGeom prst="rect">
            <a:avLst/>
          </a:prstGeom>
          <a:solidFill>
            <a:srgbClr val="7AF7FF"/>
          </a:solidFill>
          <a:ln/>
          <a:effectLst>
            <a:outerShdw sx="100000" sy="100000" kx="0" ky="0" algn="bl" rotWithShape="0" blurRad="76200" dist="50800" dir="16200000">
              <a:srgbClr val="7AF7FF">
                <a:alpha val="6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47750" y="7057430"/>
            <a:ext cx="12753975" cy="483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Opponent scouting + game-outcome prediction from official U.S. chess tournament data.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4718606" y="1333500"/>
            <a:ext cx="2235895" cy="1074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70000"/>
              </a:lnSpc>
              <a:buNone/>
            </a:pPr>
            <a:r>
              <a:rPr lang="en-US" sz="1200" spc="150" kern="0" dirty="0">
                <a:solidFill>
                  <a:srgbClr val="7AF7FF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SYS://CYBERDECK.SCOUT NODE 01 / 13 LINK: STREAMLIT-CLOUD STATUS: </a:t>
            </a:r>
            <a:pPr algn="r" indent="0" marL="0">
              <a:lnSpc>
                <a:spcPct val="170000"/>
              </a:lnSpc>
              <a:buNone/>
            </a:pPr>
            <a:r>
              <a:rPr lang="en-US" sz="1200" spc="150" kern="0" dirty="0">
                <a:solidFill>
                  <a:srgbClr val="A38560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3500" y="9099550"/>
            <a:ext cx="2721666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150" kern="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HAROLD GONZALEZ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3555068" y="9099550"/>
            <a:ext cx="3501416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50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LIVE DASHBOARD DEMO FOLLOWS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4478000" y="3619500"/>
            <a:ext cx="2747010" cy="2705100"/>
          </a:xfrm>
          <a:prstGeom prst="rect">
            <a:avLst/>
          </a:prstGeom>
          <a:noFill/>
          <a:ln/>
          <a:effectLst>
            <a:outerShdw sx="100000" sy="100000" kx="0" ky="0" algn="bl" rotWithShape="0" blurRad="266700" dist="50800" dir="16200000">
              <a:srgbClr val="7AF7FF">
                <a:alpha val="99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0" dirty="0">
                <a:solidFill>
                  <a:srgbClr val="7AF7FF">
                    <a:alpha val="18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♔</a:t>
            </a:r>
            <a:endParaRPr lang="en-US" sz="21000" dirty="0"/>
          </a:p>
        </p:txBody>
      </p:sp>
      <p:sp>
        <p:nvSpPr>
          <p:cNvPr id="10" name="Shape 8"/>
          <p:cNvSpPr/>
          <p:nvPr/>
        </p:nvSpPr>
        <p:spPr>
          <a:xfrm>
            <a:off x="14525625" y="3429000"/>
            <a:ext cx="196850" cy="9525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4525625" y="3429000"/>
            <a:ext cx="9525" cy="196850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7186275" y="3429000"/>
            <a:ext cx="196850" cy="9525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7376775" y="3429000"/>
            <a:ext cx="9525" cy="196850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4525625" y="6280150"/>
            <a:ext cx="196850" cy="9525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4525625" y="6089650"/>
            <a:ext cx="9525" cy="196850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7186275" y="6280150"/>
            <a:ext cx="196850" cy="9525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376775" y="6089650"/>
            <a:ext cx="9525" cy="196850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66700" y="10013950"/>
            <a:ext cx="273050" cy="9525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66700" y="9747250"/>
            <a:ext cx="9525" cy="273050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7748250" y="10013950"/>
            <a:ext cx="273050" cy="9525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8014950" y="9747250"/>
            <a:ext cx="9525" cy="273050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47750" y="9766300"/>
            <a:ext cx="455484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algn="l" indent="0" marL="0">
              <a:buNone/>
            </a:pPr>
            <a:r>
              <a:rPr lang="en-US" sz="1200" spc="150" kern="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USCF CYBERDECK SCOUT · ML FINAL PROJECT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520320" y="9766300"/>
            <a:ext cx="79613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667827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50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02 / 13 · CONTEXT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270000"/>
            <a:ext cx="16678275" cy="5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225" kern="0" dirty="0">
                <a:solidFill>
                  <a:srgbClr val="7A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2039541"/>
            <a:ext cx="16192500" cy="19050"/>
          </a:xfrm>
          <a:prstGeom prst="rect">
            <a:avLst/>
          </a:prstGeom>
          <a:solidFill>
            <a:srgbClr val="7AF7FF"/>
          </a:solidFill>
          <a:ln/>
          <a:effectLst>
            <a:outerShdw sx="100000" sy="100000" kx="0" ky="0" algn="bl" rotWithShape="0" blurRad="76200" dist="50800" dir="16200000">
              <a:srgbClr val="7AF7FF">
                <a:alpha val="6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90650" y="2401491"/>
            <a:ext cx="1633537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prep for opponents by glancing at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alone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390650" y="2987278"/>
            <a:ext cx="1633537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hides recent form, activity, upset history, momentum, travel.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90650" y="3573066"/>
            <a:ext cx="1633537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chess boomed after 2020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many players improve faster than their rating catches up.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390650" y="4158853"/>
            <a:ext cx="1633537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"modest-rated" opponent might play noticeably stronger today.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90650" y="4744641"/>
            <a:ext cx="1633537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7A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A38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beyond rating and produce a real scouting picture.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4097000" y="4000500"/>
            <a:ext cx="2747010" cy="2705100"/>
          </a:xfrm>
          <a:prstGeom prst="rect">
            <a:avLst/>
          </a:prstGeom>
          <a:noFill/>
          <a:ln/>
          <a:effectLst>
            <a:outerShdw sx="100000" sy="100000" kx="0" ky="0" algn="bl" rotWithShape="0" blurRad="266700" dist="50800" dir="16200000">
              <a:srgbClr val="7AF7FF">
                <a:alpha val="99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0" dirty="0">
                <a:solidFill>
                  <a:srgbClr val="7AF7FF">
                    <a:alpha val="18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♕</a:t>
            </a:r>
            <a:endParaRPr lang="en-US" sz="21000" dirty="0"/>
          </a:p>
        </p:txBody>
      </p:sp>
      <p:sp>
        <p:nvSpPr>
          <p:cNvPr id="11" name="Shape 9"/>
          <p:cNvSpPr/>
          <p:nvPr/>
        </p:nvSpPr>
        <p:spPr>
          <a:xfrm>
            <a:off x="14192250" y="3810000"/>
            <a:ext cx="196850" cy="9525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4192250" y="3810000"/>
            <a:ext cx="9525" cy="196850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6852900" y="3810000"/>
            <a:ext cx="196850" cy="9525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7043400" y="3810000"/>
            <a:ext cx="9525" cy="196850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4192250" y="6661150"/>
            <a:ext cx="196850" cy="9525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4192250" y="6470650"/>
            <a:ext cx="9525" cy="196850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852900" y="6661150"/>
            <a:ext cx="196850" cy="9525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043400" y="6470650"/>
            <a:ext cx="9525" cy="196850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66700" y="10013950"/>
            <a:ext cx="273050" cy="9525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66700" y="9747250"/>
            <a:ext cx="9525" cy="273050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7748250" y="10013950"/>
            <a:ext cx="273050" cy="9525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014950" y="9747250"/>
            <a:ext cx="9525" cy="273050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47750" y="9766300"/>
            <a:ext cx="455484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algn="l" indent="0" marL="0">
              <a:buNone/>
            </a:pPr>
            <a:r>
              <a:rPr lang="en-US" sz="1200" spc="150" kern="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USCF CYBERDECK SCOUT · ML FINAL PROJECT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520320" y="9766300"/>
            <a:ext cx="79613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13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5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667827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50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03 / 13 · SOURCE DATA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270000"/>
            <a:ext cx="16678275" cy="5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225" kern="0" dirty="0">
                <a:solidFill>
                  <a:srgbClr val="7A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DATASET · NOT KAGGLE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2039541"/>
            <a:ext cx="16192500" cy="19050"/>
          </a:xfrm>
          <a:prstGeom prst="rect">
            <a:avLst/>
          </a:prstGeom>
          <a:solidFill>
            <a:srgbClr val="7AF7FF"/>
          </a:solidFill>
          <a:ln/>
          <a:effectLst>
            <a:outerShdw sx="100000" sy="100000" kx="0" ky="0" algn="bl" rotWithShape="0" blurRad="76200" dist="50800" dir="16200000">
              <a:srgbClr val="7AF7FF">
                <a:alpha val="6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90650" y="2401491"/>
            <a:ext cx="904271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public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USCF MSA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crosstables.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390650" y="2987278"/>
            <a:ext cx="904271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Python scraper + BeautifulSoup, 2-sec polite delay.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90650" y="3573066"/>
            <a:ext cx="904271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 cached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4,292 HTML pages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deployed app never re-scrapes.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390650" y="4158853"/>
            <a:ext cx="904271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13,305 raw games → 8,514 clean modeled games.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90650" y="4744641"/>
            <a:ext cx="904271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win / not-win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(W=1; D, L = 0)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0731501" y="2401491"/>
            <a:ext cx="6508750" cy="3683000"/>
          </a:xfrm>
          <a:prstGeom prst="rect">
            <a:avLst/>
          </a:prstGeom>
          <a:solidFill>
            <a:srgbClr val="7AF7FF">
              <a:alpha val="6000"/>
            </a:srgbClr>
          </a:solidFill>
          <a:ln w="6350">
            <a:solidFill>
              <a:srgbClr val="7AF7FF">
                <a:alpha val="2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42650" y="2674541"/>
            <a:ext cx="6063044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25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SCOPE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1042650" y="3550841"/>
            <a:ext cx="5886450" cy="9525"/>
          </a:xfrm>
          <a:prstGeom prst="rect">
            <a:avLst/>
          </a:prstGeom>
          <a:solidFill>
            <a:srgbClr val="7AF7FF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042650" y="3138091"/>
            <a:ext cx="126454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players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520617" y="3125391"/>
            <a:ext cx="484684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179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1042650" y="4115991"/>
            <a:ext cx="5886450" cy="9525"/>
          </a:xfrm>
          <a:prstGeom prst="rect">
            <a:avLst/>
          </a:prstGeom>
          <a:solidFill>
            <a:srgbClr val="7AF7FF">
              <a:alpha val="1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1042650" y="3703241"/>
            <a:ext cx="110619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Opponents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248262" y="3690541"/>
            <a:ext cx="75703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4,141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1042650" y="4681141"/>
            <a:ext cx="5886450" cy="9525"/>
          </a:xfrm>
          <a:prstGeom prst="rect">
            <a:avLst/>
          </a:prstGeom>
          <a:solidFill>
            <a:srgbClr val="7AF7FF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042650" y="4268391"/>
            <a:ext cx="681236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248262" y="4255691"/>
            <a:ext cx="75703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3,020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1042650" y="5246291"/>
            <a:ext cx="5886450" cy="9525"/>
          </a:xfrm>
          <a:prstGeom prst="rect">
            <a:avLst/>
          </a:prstGeom>
          <a:solidFill>
            <a:srgbClr val="7AF7FF">
              <a:alpha val="1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1042650" y="4833541"/>
            <a:ext cx="108783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431294" y="4820841"/>
            <a:ext cx="1574006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2001 – 2025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1042650" y="5398691"/>
            <a:ext cx="2342952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 W / not-W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158939" y="5385991"/>
            <a:ext cx="1846362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38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48.8% / 51.2%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4192250" y="8191500"/>
            <a:ext cx="1123950" cy="1085850"/>
          </a:xfrm>
          <a:prstGeom prst="rect">
            <a:avLst/>
          </a:prstGeom>
          <a:noFill/>
          <a:ln/>
          <a:effectLst>
            <a:outerShdw sx="100000" sy="100000" kx="0" ky="0" algn="bl" rotWithShape="0" blurRad="266700" dist="50800" dir="16200000">
              <a:srgbClr val="7AF7FF">
                <a:alpha val="187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0" dirty="0">
                <a:solidFill>
                  <a:srgbClr val="7AF7FF">
                    <a:alpha val="34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♙</a:t>
            </a:r>
            <a:endParaRPr lang="en-US" sz="8250" dirty="0"/>
          </a:p>
        </p:txBody>
      </p:sp>
      <p:sp>
        <p:nvSpPr>
          <p:cNvPr id="27" name="Text 25"/>
          <p:cNvSpPr/>
          <p:nvPr/>
        </p:nvSpPr>
        <p:spPr>
          <a:xfrm>
            <a:off x="15297150" y="8248650"/>
            <a:ext cx="876300" cy="838200"/>
          </a:xfrm>
          <a:prstGeom prst="rect">
            <a:avLst/>
          </a:prstGeom>
          <a:noFill/>
          <a:ln/>
          <a:effectLst>
            <a:outerShdw sx="100000" sy="100000" kx="0" ky="0" algn="bl" rotWithShape="0" blurRad="266700" dist="50800" dir="16200000">
              <a:srgbClr val="7AF7FF">
                <a:alpha val="121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dirty="0">
                <a:solidFill>
                  <a:srgbClr val="7AF7FF">
                    <a:alpha val="22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♙</a:t>
            </a:r>
            <a:endParaRPr lang="en-US" sz="6300" dirty="0"/>
          </a:p>
        </p:txBody>
      </p:sp>
      <p:sp>
        <p:nvSpPr>
          <p:cNvPr id="28" name="Text 26"/>
          <p:cNvSpPr/>
          <p:nvPr/>
        </p:nvSpPr>
        <p:spPr>
          <a:xfrm>
            <a:off x="16192500" y="8286750"/>
            <a:ext cx="647700" cy="609600"/>
          </a:xfrm>
          <a:prstGeom prst="rect">
            <a:avLst/>
          </a:prstGeom>
          <a:noFill/>
          <a:ln/>
          <a:effectLst>
            <a:outerShdw sx="100000" sy="100000" kx="0" ky="0" algn="bl" rotWithShape="0" blurRad="266700" dist="50800" dir="16200000">
              <a:srgbClr val="7AF7FF">
                <a:alpha val="77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0" dirty="0">
                <a:solidFill>
                  <a:srgbClr val="7AF7FF">
                    <a:alpha val="14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♙</a:t>
            </a:r>
            <a:endParaRPr lang="en-US" sz="4500" dirty="0"/>
          </a:p>
        </p:txBody>
      </p:sp>
      <p:sp>
        <p:nvSpPr>
          <p:cNvPr id="29" name="Shape 27"/>
          <p:cNvSpPr/>
          <p:nvPr/>
        </p:nvSpPr>
        <p:spPr>
          <a:xfrm>
            <a:off x="14668500" y="7953375"/>
            <a:ext cx="196850" cy="9525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668500" y="7953375"/>
            <a:ext cx="9525" cy="196850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6757650" y="7953375"/>
            <a:ext cx="196850" cy="9525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6948150" y="7953375"/>
            <a:ext cx="9525" cy="196850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4668500" y="9375775"/>
            <a:ext cx="196850" cy="9525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4668500" y="9185275"/>
            <a:ext cx="9525" cy="196850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6757650" y="9375775"/>
            <a:ext cx="196850" cy="9525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6948150" y="9185275"/>
            <a:ext cx="9525" cy="196850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66700" y="10013950"/>
            <a:ext cx="273050" cy="9525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66700" y="9747250"/>
            <a:ext cx="9525" cy="273050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7748250" y="10013950"/>
            <a:ext cx="273050" cy="9525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8014950" y="9747250"/>
            <a:ext cx="9525" cy="273050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047750" y="9766300"/>
            <a:ext cx="455484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algn="l" indent="0" marL="0">
              <a:buNone/>
            </a:pPr>
            <a:r>
              <a:rPr lang="en-US" sz="1200" spc="150" kern="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USCF CYBERDECK SCOUT · ML FINAL PROJECT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6520320" y="9766300"/>
            <a:ext cx="79613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667827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50" kern="0" dirty="0">
                <a:solidFill>
                  <a:srgbClr val="C04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04 / 13 · DATA-QUALITY INCIDENT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270000"/>
            <a:ext cx="16678275" cy="5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225" kern="0" dirty="0">
                <a:solidFill>
                  <a:srgbClr val="C0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FAILURE → REPAIR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2039541"/>
            <a:ext cx="16192500" cy="19050"/>
          </a:xfrm>
          <a:prstGeom prst="rect">
            <a:avLst/>
          </a:prstGeom>
          <a:solidFill>
            <a:srgbClr val="C0444A"/>
          </a:solidFill>
          <a:ln/>
          <a:effectLst>
            <a:outerShdw sx="100000" sy="100000" kx="0" ky="0" algn="bl" rotWithShape="0" blurRad="76200" dist="50800" dir="16200000">
              <a:srgbClr val="C0444A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47750" y="2401491"/>
            <a:ext cx="7924800" cy="4411266"/>
          </a:xfrm>
          <a:prstGeom prst="rect">
            <a:avLst/>
          </a:prstGeom>
          <a:solidFill>
            <a:srgbClr val="C0444A">
              <a:alpha val="8000"/>
            </a:srgbClr>
          </a:solidFill>
          <a:ln w="6350">
            <a:solidFill>
              <a:srgbClr val="C0444A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58900" y="2674541"/>
            <a:ext cx="7521575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25" kern="0" dirty="0">
                <a:solidFill>
                  <a:srgbClr val="C04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SYMPTOM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701800" y="2992041"/>
            <a:ext cx="7178675" cy="34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C0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</a:t>
            </a:r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rating_diff ↔ win = −0.13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701800" y="3429199"/>
            <a:ext cx="7178675" cy="34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C0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 theory says higher rating wins more often. </a:t>
            </a:r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result.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358900" y="3942556"/>
            <a:ext cx="7521575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25" kern="0" dirty="0">
                <a:solidFill>
                  <a:srgbClr val="C04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ROOT CAUSE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701800" y="4260056"/>
            <a:ext cx="7178675" cy="34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C0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Rating-parsing regex was </a:t>
            </a:r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unanchored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C0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701800" y="4697214"/>
            <a:ext cx="7178675" cy="34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C0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Grabbed the first 4 digits of the 8-digit USCF ID.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358900" y="5134372"/>
            <a:ext cx="7302500" cy="457200"/>
          </a:xfrm>
          <a:prstGeom prst="rect">
            <a:avLst/>
          </a:prstGeom>
          <a:solidFill>
            <a:srgbClr val="7AF7FF">
              <a:alpha val="7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358900" y="5134372"/>
            <a:ext cx="25400" cy="457200"/>
          </a:xfrm>
          <a:prstGeom prst="rect">
            <a:avLst/>
          </a:prstGeom>
          <a:solidFill>
            <a:srgbClr val="7AF7FF"/>
          </a:solidFill>
          <a:ln/>
        </p:spPr>
      </p:sp>
      <p:sp>
        <p:nvSpPr>
          <p:cNvPr id="14" name="Text 12"/>
          <p:cNvSpPr/>
          <p:nvPr/>
        </p:nvSpPr>
        <p:spPr>
          <a:xfrm>
            <a:off x="1536700" y="5248672"/>
            <a:ext cx="71913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trike="sngStrike" dirty="0">
                <a:solidFill>
                  <a:srgbClr val="C04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re.search(r"(\d{4})", row)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358900" y="5705872"/>
            <a:ext cx="7302500" cy="457200"/>
          </a:xfrm>
          <a:prstGeom prst="rect">
            <a:avLst/>
          </a:prstGeom>
          <a:solidFill>
            <a:srgbClr val="7AF7FF">
              <a:alpha val="7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58900" y="5705872"/>
            <a:ext cx="25400" cy="457200"/>
          </a:xfrm>
          <a:prstGeom prst="rect">
            <a:avLst/>
          </a:prstGeom>
          <a:solidFill>
            <a:srgbClr val="7AF7FF"/>
          </a:solidFill>
          <a:ln/>
        </p:spPr>
      </p:sp>
      <p:sp>
        <p:nvSpPr>
          <p:cNvPr id="17" name="Text 15"/>
          <p:cNvSpPr/>
          <p:nvPr/>
        </p:nvSpPr>
        <p:spPr>
          <a:xfrm>
            <a:off x="1536700" y="5820172"/>
            <a:ext cx="71913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AF7FF"/>
                </a:solidFill>
                <a:highlight>
                  <a:srgbClr val="7AF7F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USCF ID </a:t>
            </a:r>
            <a:pPr algn="l" indent="0" marL="0">
              <a:buNone/>
            </a:pPr>
            <a:r>
              <a:rPr lang="en-US" sz="1500" dirty="0">
                <a:solidFill>
                  <a:srgbClr val="C04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12640800 </a:t>
            </a:r>
            <a:pPr algn="l" indent="0" marL="0">
              <a:buNone/>
            </a:pPr>
            <a:r>
              <a:rPr lang="en-US" sz="1500" dirty="0">
                <a:solidFill>
                  <a:srgbClr val="7AF7FF"/>
                </a:solidFill>
                <a:highlight>
                  <a:srgbClr val="7AF7F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→ stored rating </a:t>
            </a:r>
            <a:pPr algn="l" indent="0" marL="0">
              <a:buNone/>
            </a:pPr>
            <a:r>
              <a:rPr lang="en-US" sz="1500" dirty="0">
                <a:solidFill>
                  <a:srgbClr val="C04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"1264"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315450" y="2401491"/>
            <a:ext cx="7924800" cy="4411266"/>
          </a:xfrm>
          <a:prstGeom prst="rect">
            <a:avLst/>
          </a:prstGeom>
          <a:solidFill>
            <a:srgbClr val="A38560">
              <a:alpha val="8000"/>
            </a:srgbClr>
          </a:solidFill>
          <a:ln w="6350">
            <a:solidFill>
              <a:srgbClr val="A38560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26600" y="2674541"/>
            <a:ext cx="7521575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25" kern="0" dirty="0">
                <a:solidFill>
                  <a:srgbClr val="A38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FIX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969500" y="2992041"/>
            <a:ext cx="7178675" cy="34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A38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regex on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A38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token.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969500" y="3429199"/>
            <a:ext cx="7178675" cy="34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A38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Re-parsed all 4,292 cached pages — </a:t>
            </a:r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re-scrape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A38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9626600" y="3866356"/>
            <a:ext cx="7302500" cy="457200"/>
          </a:xfrm>
          <a:prstGeom prst="rect">
            <a:avLst/>
          </a:prstGeom>
          <a:solidFill>
            <a:srgbClr val="7AF7FF">
              <a:alpha val="7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9626600" y="3866356"/>
            <a:ext cx="25400" cy="457200"/>
          </a:xfrm>
          <a:prstGeom prst="rect">
            <a:avLst/>
          </a:prstGeom>
          <a:solidFill>
            <a:srgbClr val="7AF7FF"/>
          </a:solidFill>
          <a:ln/>
        </p:spPr>
      </p:sp>
      <p:sp>
        <p:nvSpPr>
          <p:cNvPr id="24" name="Text 22"/>
          <p:cNvSpPr/>
          <p:nvPr/>
        </p:nvSpPr>
        <p:spPr>
          <a:xfrm>
            <a:off x="9804400" y="3980656"/>
            <a:ext cx="71913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38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re.search(r"R:\s*(\d{3,4})", row)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26600" y="4533106"/>
            <a:ext cx="7521575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25" kern="0" dirty="0">
                <a:solidFill>
                  <a:srgbClr val="A38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BEFORE / AFTER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9626600" y="5409406"/>
            <a:ext cx="7302500" cy="9525"/>
          </a:xfrm>
          <a:prstGeom prst="rect">
            <a:avLst/>
          </a:prstGeom>
          <a:solidFill>
            <a:srgbClr val="7AF7FF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626600" y="4996657"/>
            <a:ext cx="176728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rating_diff ↔ win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240695" y="4983956"/>
            <a:ext cx="1764606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04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−0.13 </a:t>
            </a:r>
            <a:pPr algn="l" indent="0" marL="0">
              <a:buNone/>
            </a:pPr>
            <a:r>
              <a:rPr lang="en-US" sz="195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pPr algn="l" indent="0" marL="0">
              <a:buNone/>
            </a:pPr>
            <a:r>
              <a:rPr lang="en-US" sz="1950" b="1" dirty="0">
                <a:solidFill>
                  <a:srgbClr val="A38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+0.49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626600" y="5974557"/>
            <a:ext cx="7302500" cy="9525"/>
          </a:xfrm>
          <a:prstGeom prst="rect">
            <a:avLst/>
          </a:prstGeom>
          <a:solidFill>
            <a:srgbClr val="7AF7FF">
              <a:alpha val="1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626600" y="5561806"/>
            <a:ext cx="17335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 zero-shot AUC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5376823" y="5549107"/>
            <a:ext cx="1628477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04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0.37 </a:t>
            </a:r>
            <a:pPr algn="l" indent="0" marL="0">
              <a:buNone/>
            </a:pPr>
            <a:r>
              <a:rPr lang="en-US" sz="195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pPr algn="l" indent="0" marL="0">
              <a:buNone/>
            </a:pPr>
            <a:r>
              <a:rPr lang="en-US" sz="1950" b="1" dirty="0">
                <a:solidFill>
                  <a:srgbClr val="A38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0.825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9626600" y="6126956"/>
            <a:ext cx="1930202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AUC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5512951" y="6114256"/>
            <a:ext cx="149234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04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0.67 </a:t>
            </a:r>
            <a:pPr algn="l" indent="0" marL="0">
              <a:buNone/>
            </a:pPr>
            <a:r>
              <a:rPr lang="en-US" sz="195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pPr algn="l" indent="0" marL="0">
              <a:buNone/>
            </a:pPr>
            <a:r>
              <a:rPr lang="en-US" sz="1950" b="1" dirty="0">
                <a:solidFill>
                  <a:srgbClr val="A38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0.82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047750" y="7079456"/>
            <a:ext cx="16192500" cy="1210270"/>
          </a:xfrm>
          <a:prstGeom prst="rect">
            <a:avLst/>
          </a:prstGeom>
          <a:solidFill>
            <a:srgbClr val="A38560">
              <a:alpha val="8000"/>
            </a:srgbClr>
          </a:solidFill>
          <a:ln w="6350">
            <a:solidFill>
              <a:srgbClr val="A38560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58900" y="7352506"/>
            <a:ext cx="16037307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25" kern="0" dirty="0">
                <a:solidFill>
                  <a:srgbClr val="A38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TAKEAWAY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358900" y="7670006"/>
            <a:ext cx="16037307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A38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model accuracy alone wouldn't have caught this.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A38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knowledge + EDA correlations did.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16002000" y="571500"/>
            <a:ext cx="1314450" cy="1276350"/>
          </a:xfrm>
          <a:prstGeom prst="rect">
            <a:avLst/>
          </a:prstGeom>
          <a:noFill/>
          <a:ln/>
          <a:effectLst>
            <a:outerShdw sx="100000" sy="100000" kx="0" ky="0" algn="bl" rotWithShape="0" blurRad="266700" dist="50800" dir="16200000">
              <a:srgbClr val="C0444A">
                <a:alpha val="176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0" dirty="0">
                <a:solidFill>
                  <a:srgbClr val="C0444A">
                    <a:alpha val="32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♗</a:t>
            </a:r>
            <a:endParaRPr lang="en-US" sz="9750" dirty="0"/>
          </a:p>
        </p:txBody>
      </p:sp>
      <p:sp>
        <p:nvSpPr>
          <p:cNvPr id="38" name="Shape 36"/>
          <p:cNvSpPr/>
          <p:nvPr/>
        </p:nvSpPr>
        <p:spPr>
          <a:xfrm>
            <a:off x="15954375" y="428625"/>
            <a:ext cx="196850" cy="9525"/>
          </a:xfrm>
          <a:prstGeom prst="rect">
            <a:avLst/>
          </a:prstGeom>
          <a:solidFill>
            <a:srgbClr val="C0444A">
              <a:alpha val="7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5954375" y="428625"/>
            <a:ext cx="9525" cy="196850"/>
          </a:xfrm>
          <a:prstGeom prst="rect">
            <a:avLst/>
          </a:prstGeom>
          <a:solidFill>
            <a:srgbClr val="C0444A">
              <a:alpha val="7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7186275" y="428625"/>
            <a:ext cx="196850" cy="9525"/>
          </a:xfrm>
          <a:prstGeom prst="rect">
            <a:avLst/>
          </a:prstGeom>
          <a:solidFill>
            <a:srgbClr val="C0444A">
              <a:alpha val="7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7376775" y="428625"/>
            <a:ext cx="9525" cy="196850"/>
          </a:xfrm>
          <a:prstGeom prst="rect">
            <a:avLst/>
          </a:prstGeom>
          <a:solidFill>
            <a:srgbClr val="C0444A">
              <a:alpha val="7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5954375" y="1851025"/>
            <a:ext cx="196850" cy="9525"/>
          </a:xfrm>
          <a:prstGeom prst="rect">
            <a:avLst/>
          </a:prstGeom>
          <a:solidFill>
            <a:srgbClr val="C0444A">
              <a:alpha val="7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5954375" y="1660525"/>
            <a:ext cx="9525" cy="196850"/>
          </a:xfrm>
          <a:prstGeom prst="rect">
            <a:avLst/>
          </a:prstGeom>
          <a:solidFill>
            <a:srgbClr val="C0444A">
              <a:alpha val="7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7186275" y="1851025"/>
            <a:ext cx="196850" cy="9525"/>
          </a:xfrm>
          <a:prstGeom prst="rect">
            <a:avLst/>
          </a:prstGeom>
          <a:solidFill>
            <a:srgbClr val="C0444A">
              <a:alpha val="7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7376775" y="1660525"/>
            <a:ext cx="9525" cy="196850"/>
          </a:xfrm>
          <a:prstGeom prst="rect">
            <a:avLst/>
          </a:prstGeom>
          <a:solidFill>
            <a:srgbClr val="C0444A">
              <a:alpha val="7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266700" y="10013950"/>
            <a:ext cx="273050" cy="9525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266700" y="9747250"/>
            <a:ext cx="9525" cy="273050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7748250" y="10013950"/>
            <a:ext cx="273050" cy="9525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8014950" y="9747250"/>
            <a:ext cx="9525" cy="273050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1047750" y="9766300"/>
            <a:ext cx="455484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C04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algn="l" indent="0" marL="0">
              <a:buNone/>
            </a:pPr>
            <a:r>
              <a:rPr lang="en-US" sz="1200" spc="150" kern="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USCF CYBERDECK SCOUT · ML FINAL PROJECT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6520320" y="9766300"/>
            <a:ext cx="79613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5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667827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50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05 / 13 · EXPLORATORY DATA ANALYSIS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270000"/>
            <a:ext cx="16678275" cy="5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225" kern="0" dirty="0">
                <a:solidFill>
                  <a:srgbClr val="7A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WHAT THE DATA LOOKS LIKE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2039541"/>
            <a:ext cx="16192500" cy="19050"/>
          </a:xfrm>
          <a:prstGeom prst="rect">
            <a:avLst/>
          </a:prstGeom>
          <a:solidFill>
            <a:srgbClr val="7AF7FF"/>
          </a:solidFill>
          <a:ln/>
          <a:effectLst>
            <a:outerShdw sx="100000" sy="100000" kx="0" ky="0" algn="bl" rotWithShape="0" blurRad="76200" dist="50800" dir="16200000">
              <a:srgbClr val="7AF7FF">
                <a:alpha val="6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90650" y="2401491"/>
            <a:ext cx="843322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/ D / L split: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48.8% / 19.9% / 31.3%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390650" y="2987278"/>
            <a:ext cx="843322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range: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 → 2861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(kids ↔ GMs).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90650" y="3573066"/>
            <a:ext cx="8433225" cy="458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rating_diff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−2200 to +2200, unimodal around 0.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390650" y="4165203"/>
            <a:ext cx="8433225" cy="458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audit: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rating_diff = pre − opp_pre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90650" y="4757341"/>
            <a:ext cx="843322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predictive feature shape: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bigger advantage, higher win prob.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0139760" y="2401491"/>
            <a:ext cx="7100392" cy="3695700"/>
          </a:xfrm>
          <a:prstGeom prst="rect">
            <a:avLst/>
          </a:prstGeom>
          <a:solidFill>
            <a:srgbClr val="7AF7FF">
              <a:alpha val="6000"/>
            </a:srgbClr>
          </a:solidFill>
          <a:ln w="6350">
            <a:solidFill>
              <a:srgbClr val="7AF7FF">
                <a:alpha val="2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50910" y="2674541"/>
            <a:ext cx="6672435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25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RATING_DIFF · HISTOGRAM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450910" y="5297091"/>
            <a:ext cx="6478092" cy="9525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450910" y="3011091"/>
            <a:ext cx="9525" cy="2292350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381059" y="3011091"/>
            <a:ext cx="5524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381059" y="3722291"/>
            <a:ext cx="5524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381059" y="4433491"/>
            <a:ext cx="5524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381059" y="5144691"/>
            <a:ext cx="5524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1028759" y="5153620"/>
            <a:ext cx="311150" cy="143470"/>
          </a:xfrm>
          <a:prstGeom prst="rect">
            <a:avLst/>
          </a:prstGeom>
          <a:solidFill>
            <a:srgbClr val="7AF7FF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028759" y="5153620"/>
            <a:ext cx="311150" cy="9525"/>
          </a:xfrm>
          <a:prstGeom prst="rect">
            <a:avLst/>
          </a:prstGeom>
          <a:solidFill>
            <a:srgbClr val="7AF7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1378010" y="5062141"/>
            <a:ext cx="311249" cy="234950"/>
          </a:xfrm>
          <a:prstGeom prst="rect">
            <a:avLst/>
          </a:prstGeom>
          <a:solidFill>
            <a:srgbClr val="7AF7FF">
              <a:alpha val="7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378010" y="5062141"/>
            <a:ext cx="311249" cy="9525"/>
          </a:xfrm>
          <a:prstGeom prst="rect">
            <a:avLst/>
          </a:prstGeom>
          <a:solidFill>
            <a:srgbClr val="7AF7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1727359" y="4879281"/>
            <a:ext cx="311150" cy="417810"/>
          </a:xfrm>
          <a:prstGeom prst="rect">
            <a:avLst/>
          </a:prstGeom>
          <a:solidFill>
            <a:srgbClr val="7AF7FF">
              <a:alpha val="7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727359" y="4879281"/>
            <a:ext cx="311150" cy="9525"/>
          </a:xfrm>
          <a:prstGeom prst="rect">
            <a:avLst/>
          </a:prstGeom>
          <a:solidFill>
            <a:srgbClr val="7AF7FF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76609" y="4650681"/>
            <a:ext cx="311249" cy="646410"/>
          </a:xfrm>
          <a:prstGeom prst="rect">
            <a:avLst/>
          </a:prstGeom>
          <a:solidFill>
            <a:srgbClr val="7AF7FF">
              <a:alpha val="7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2076609" y="4650681"/>
            <a:ext cx="311249" cy="9525"/>
          </a:xfrm>
          <a:prstGeom prst="rect">
            <a:avLst/>
          </a:prstGeom>
          <a:solidFill>
            <a:srgbClr val="7AF7FF"/>
          </a:solidFill>
          <a:ln/>
        </p:spPr>
      </p:sp>
      <p:sp>
        <p:nvSpPr>
          <p:cNvPr id="26" name="Shape 24"/>
          <p:cNvSpPr/>
          <p:nvPr/>
        </p:nvSpPr>
        <p:spPr>
          <a:xfrm>
            <a:off x="12425958" y="4330700"/>
            <a:ext cx="311150" cy="966391"/>
          </a:xfrm>
          <a:prstGeom prst="rect">
            <a:avLst/>
          </a:prstGeom>
          <a:solidFill>
            <a:srgbClr val="7AF7FF">
              <a:alpha val="7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2425958" y="4330700"/>
            <a:ext cx="311150" cy="9525"/>
          </a:xfrm>
          <a:prstGeom prst="rect">
            <a:avLst/>
          </a:prstGeom>
          <a:solidFill>
            <a:srgbClr val="7AF7FF"/>
          </a:solidFill>
          <a:ln/>
        </p:spPr>
      </p:sp>
      <p:sp>
        <p:nvSpPr>
          <p:cNvPr id="28" name="Shape 26"/>
          <p:cNvSpPr/>
          <p:nvPr/>
        </p:nvSpPr>
        <p:spPr>
          <a:xfrm>
            <a:off x="12775209" y="3964881"/>
            <a:ext cx="311249" cy="1332210"/>
          </a:xfrm>
          <a:prstGeom prst="rect">
            <a:avLst/>
          </a:prstGeom>
          <a:solidFill>
            <a:srgbClr val="7AF7FF">
              <a:alpha val="7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2775209" y="3964881"/>
            <a:ext cx="311249" cy="9525"/>
          </a:xfrm>
          <a:prstGeom prst="rect">
            <a:avLst/>
          </a:prstGeom>
          <a:solidFill>
            <a:srgbClr val="7AF7FF"/>
          </a:solidFill>
          <a:ln/>
        </p:spPr>
      </p:sp>
      <p:sp>
        <p:nvSpPr>
          <p:cNvPr id="30" name="Shape 28"/>
          <p:cNvSpPr/>
          <p:nvPr/>
        </p:nvSpPr>
        <p:spPr>
          <a:xfrm>
            <a:off x="13124557" y="3576241"/>
            <a:ext cx="311150" cy="1720850"/>
          </a:xfrm>
          <a:prstGeom prst="rect">
            <a:avLst/>
          </a:prstGeom>
          <a:solidFill>
            <a:srgbClr val="7AF7FF">
              <a:alpha val="7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3124557" y="3576241"/>
            <a:ext cx="311150" cy="9525"/>
          </a:xfrm>
          <a:prstGeom prst="rect">
            <a:avLst/>
          </a:prstGeom>
          <a:solidFill>
            <a:srgbClr val="7AF7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3473808" y="3187700"/>
            <a:ext cx="311249" cy="2109391"/>
          </a:xfrm>
          <a:prstGeom prst="rect">
            <a:avLst/>
          </a:prstGeom>
          <a:solidFill>
            <a:srgbClr val="7AF7FF">
              <a:alpha val="7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3473808" y="3187700"/>
            <a:ext cx="311249" cy="9525"/>
          </a:xfrm>
          <a:prstGeom prst="rect">
            <a:avLst/>
          </a:prstGeom>
          <a:solidFill>
            <a:srgbClr val="7AF7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3823156" y="3004741"/>
            <a:ext cx="311150" cy="2292350"/>
          </a:xfrm>
          <a:prstGeom prst="rect">
            <a:avLst/>
          </a:prstGeom>
          <a:solidFill>
            <a:srgbClr val="7AF7FF">
              <a:alpha val="7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3823156" y="3004741"/>
            <a:ext cx="311150" cy="9525"/>
          </a:xfrm>
          <a:prstGeom prst="rect">
            <a:avLst/>
          </a:prstGeom>
          <a:solidFill>
            <a:srgbClr val="7AF7FF"/>
          </a:solidFill>
          <a:ln/>
        </p:spPr>
      </p:sp>
      <p:sp>
        <p:nvSpPr>
          <p:cNvPr id="36" name="Shape 34"/>
          <p:cNvSpPr/>
          <p:nvPr/>
        </p:nvSpPr>
        <p:spPr>
          <a:xfrm>
            <a:off x="14172407" y="3279081"/>
            <a:ext cx="311249" cy="2018010"/>
          </a:xfrm>
          <a:prstGeom prst="rect">
            <a:avLst/>
          </a:prstGeom>
          <a:solidFill>
            <a:srgbClr val="7AF7FF">
              <a:alpha val="7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4172407" y="3279081"/>
            <a:ext cx="311249" cy="9525"/>
          </a:xfrm>
          <a:prstGeom prst="rect">
            <a:avLst/>
          </a:prstGeom>
          <a:solidFill>
            <a:srgbClr val="7AF7FF"/>
          </a:solidFill>
          <a:ln/>
        </p:spPr>
      </p:sp>
      <p:sp>
        <p:nvSpPr>
          <p:cNvPr id="38" name="Shape 36"/>
          <p:cNvSpPr/>
          <p:nvPr/>
        </p:nvSpPr>
        <p:spPr>
          <a:xfrm>
            <a:off x="14521755" y="3690541"/>
            <a:ext cx="311150" cy="1606550"/>
          </a:xfrm>
          <a:prstGeom prst="rect">
            <a:avLst/>
          </a:prstGeom>
          <a:solidFill>
            <a:srgbClr val="7AF7FF">
              <a:alpha val="7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4521755" y="3690541"/>
            <a:ext cx="311150" cy="9525"/>
          </a:xfrm>
          <a:prstGeom prst="rect">
            <a:avLst/>
          </a:prstGeom>
          <a:solidFill>
            <a:srgbClr val="7AF7FF"/>
          </a:solidFill>
          <a:ln/>
        </p:spPr>
      </p:sp>
      <p:sp>
        <p:nvSpPr>
          <p:cNvPr id="40" name="Shape 38"/>
          <p:cNvSpPr/>
          <p:nvPr/>
        </p:nvSpPr>
        <p:spPr>
          <a:xfrm>
            <a:off x="14871006" y="4102100"/>
            <a:ext cx="311249" cy="1194991"/>
          </a:xfrm>
          <a:prstGeom prst="rect">
            <a:avLst/>
          </a:prstGeom>
          <a:solidFill>
            <a:srgbClr val="7AF7FF">
              <a:alpha val="7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4871006" y="4102100"/>
            <a:ext cx="311249" cy="9525"/>
          </a:xfrm>
          <a:prstGeom prst="rect">
            <a:avLst/>
          </a:prstGeom>
          <a:solidFill>
            <a:srgbClr val="7AF7FF"/>
          </a:solidFill>
          <a:ln/>
        </p:spPr>
      </p:sp>
      <p:sp>
        <p:nvSpPr>
          <p:cNvPr id="42" name="Shape 40"/>
          <p:cNvSpPr/>
          <p:nvPr/>
        </p:nvSpPr>
        <p:spPr>
          <a:xfrm>
            <a:off x="15220355" y="4467820"/>
            <a:ext cx="311249" cy="829270"/>
          </a:xfrm>
          <a:prstGeom prst="rect">
            <a:avLst/>
          </a:prstGeom>
          <a:solidFill>
            <a:srgbClr val="7AF7FF">
              <a:alpha val="7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5220355" y="4467820"/>
            <a:ext cx="311249" cy="9525"/>
          </a:xfrm>
          <a:prstGeom prst="rect">
            <a:avLst/>
          </a:prstGeom>
          <a:solidFill>
            <a:srgbClr val="7AF7FF"/>
          </a:solidFill>
          <a:ln/>
        </p:spPr>
      </p:sp>
      <p:sp>
        <p:nvSpPr>
          <p:cNvPr id="44" name="Shape 42"/>
          <p:cNvSpPr/>
          <p:nvPr/>
        </p:nvSpPr>
        <p:spPr>
          <a:xfrm>
            <a:off x="15569704" y="4787900"/>
            <a:ext cx="311249" cy="509191"/>
          </a:xfrm>
          <a:prstGeom prst="rect">
            <a:avLst/>
          </a:prstGeom>
          <a:solidFill>
            <a:srgbClr val="7AF7FF">
              <a:alpha val="7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5569704" y="4787900"/>
            <a:ext cx="311249" cy="9525"/>
          </a:xfrm>
          <a:prstGeom prst="rect">
            <a:avLst/>
          </a:prstGeom>
          <a:solidFill>
            <a:srgbClr val="7AF7FF"/>
          </a:solidFill>
          <a:ln/>
        </p:spPr>
      </p:sp>
      <p:sp>
        <p:nvSpPr>
          <p:cNvPr id="46" name="Shape 44"/>
          <p:cNvSpPr/>
          <p:nvPr/>
        </p:nvSpPr>
        <p:spPr>
          <a:xfrm>
            <a:off x="15919054" y="4970761"/>
            <a:ext cx="311249" cy="326330"/>
          </a:xfrm>
          <a:prstGeom prst="rect">
            <a:avLst/>
          </a:prstGeom>
          <a:solidFill>
            <a:srgbClr val="7AF7FF">
              <a:alpha val="7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5919054" y="4970761"/>
            <a:ext cx="311249" cy="9525"/>
          </a:xfrm>
          <a:prstGeom prst="rect">
            <a:avLst/>
          </a:prstGeom>
          <a:solidFill>
            <a:srgbClr val="7AF7FF"/>
          </a:solidFill>
          <a:ln/>
        </p:spPr>
      </p:sp>
      <p:sp>
        <p:nvSpPr>
          <p:cNvPr id="48" name="Shape 46"/>
          <p:cNvSpPr/>
          <p:nvPr/>
        </p:nvSpPr>
        <p:spPr>
          <a:xfrm>
            <a:off x="16268402" y="5107881"/>
            <a:ext cx="311249" cy="189210"/>
          </a:xfrm>
          <a:prstGeom prst="rect">
            <a:avLst/>
          </a:prstGeom>
          <a:solidFill>
            <a:srgbClr val="7AF7FF">
              <a:alpha val="7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6268402" y="5107881"/>
            <a:ext cx="311249" cy="9525"/>
          </a:xfrm>
          <a:prstGeom prst="rect">
            <a:avLst/>
          </a:prstGeom>
          <a:solidFill>
            <a:srgbClr val="7AF7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6617752" y="5199361"/>
            <a:ext cx="311249" cy="97730"/>
          </a:xfrm>
          <a:prstGeom prst="rect">
            <a:avLst/>
          </a:prstGeom>
          <a:solidFill>
            <a:srgbClr val="7AF7FF">
              <a:alpha val="7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6617752" y="5199361"/>
            <a:ext cx="311249" cy="9525"/>
          </a:xfrm>
          <a:prstGeom prst="rect">
            <a:avLst/>
          </a:prstGeom>
          <a:solidFill>
            <a:srgbClr val="7AF7FF"/>
          </a:solidFill>
          <a:ln/>
        </p:spPr>
      </p:sp>
      <p:sp>
        <p:nvSpPr>
          <p:cNvPr id="52" name="Text 50"/>
          <p:cNvSpPr/>
          <p:nvPr/>
        </p:nvSpPr>
        <p:spPr>
          <a:xfrm>
            <a:off x="11022410" y="5360591"/>
            <a:ext cx="44281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−2200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2480727" y="5360591"/>
            <a:ext cx="44281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−1100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13939045" y="5360591"/>
            <a:ext cx="14952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5104071" y="5360591"/>
            <a:ext cx="44281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+1100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16562388" y="5360591"/>
            <a:ext cx="44281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+2200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10450910" y="5646341"/>
            <a:ext cx="667243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5" kern="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8,514 · bin = 260 pts · unimodal, centered ~ 0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1333500" y="6953250"/>
            <a:ext cx="2171700" cy="2133600"/>
          </a:xfrm>
          <a:prstGeom prst="rect">
            <a:avLst/>
          </a:prstGeom>
          <a:noFill/>
          <a:ln/>
          <a:effectLst>
            <a:outerShdw sx="100000" sy="100000" kx="0" ky="0" algn="bl" rotWithShape="0" blurRad="266700" dist="50800" dir="16200000">
              <a:srgbClr val="7AF7FF">
                <a:alpha val="11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0" dirty="0">
                <a:solidFill>
                  <a:srgbClr val="7AF7FF">
                    <a:alpha val="20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♘</a:t>
            </a:r>
            <a:endParaRPr lang="en-US" sz="16500" dirty="0"/>
          </a:p>
        </p:txBody>
      </p:sp>
      <p:sp>
        <p:nvSpPr>
          <p:cNvPr id="59" name="Shape 57"/>
          <p:cNvSpPr/>
          <p:nvPr/>
        </p:nvSpPr>
        <p:spPr>
          <a:xfrm>
            <a:off x="1143000" y="6953250"/>
            <a:ext cx="196850" cy="9525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143000" y="6953250"/>
            <a:ext cx="9525" cy="196850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3232150" y="6953250"/>
            <a:ext cx="196850" cy="9525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3422650" y="6953250"/>
            <a:ext cx="9525" cy="196850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43000" y="9232900"/>
            <a:ext cx="196850" cy="9525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143000" y="9042400"/>
            <a:ext cx="9525" cy="196850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3232150" y="9232900"/>
            <a:ext cx="196850" cy="9525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3422650" y="9042400"/>
            <a:ext cx="9525" cy="196850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266700" y="10013950"/>
            <a:ext cx="273050" cy="9525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266700" y="9747250"/>
            <a:ext cx="9525" cy="273050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7748250" y="10013950"/>
            <a:ext cx="273050" cy="9525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18014950" y="9747250"/>
            <a:ext cx="9525" cy="273050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1047750" y="9766300"/>
            <a:ext cx="455484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algn="l" indent="0" marL="0">
              <a:buNone/>
            </a:pPr>
            <a:r>
              <a:rPr lang="en-US" sz="1200" spc="150" kern="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USCF CYBERDECK SCOUT · ML FINAL PROJECT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16520320" y="9766300"/>
            <a:ext cx="79613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13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667827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50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06 / 13 · PRIOR WORK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270000"/>
            <a:ext cx="16678275" cy="5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225" kern="0" dirty="0">
                <a:solidFill>
                  <a:srgbClr val="7A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2039541"/>
            <a:ext cx="16192500" cy="19050"/>
          </a:xfrm>
          <a:prstGeom prst="rect">
            <a:avLst/>
          </a:prstGeom>
          <a:solidFill>
            <a:srgbClr val="7AF7FF"/>
          </a:solidFill>
          <a:ln/>
          <a:effectLst>
            <a:outerShdw sx="100000" sy="100000" kx="0" ky="0" algn="bl" rotWithShape="0" blurRad="76200" dist="50800" dir="16200000">
              <a:srgbClr val="7AF7FF">
                <a:alpha val="6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47750" y="2401491"/>
            <a:ext cx="8103679" cy="2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225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RATING SYSTEMS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7750" y="2705001"/>
            <a:ext cx="7544365" cy="648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 (1978) · Glicko / Glicko-2 (Glickman 1995, 2012) · TrueSkill (Herbrich et al. 2007)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3551932"/>
            <a:ext cx="8103679" cy="2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225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CHESS ML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7750" y="3855442"/>
            <a:ext cx="7515852" cy="648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DeepChess (David et al. 2016) · Levitt (1997) · Stefani (2011) · Maharaj et al. (2022)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372600" y="2401491"/>
            <a:ext cx="8103679" cy="2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225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MOMENTUM · "HOT HAND"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72600" y="2705001"/>
            <a:ext cx="5862536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Gilovich – Vallone – Tversky (1985) · Miller &amp; Sanjurjo (2018)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372600" y="3220542"/>
            <a:ext cx="8103679" cy="2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spc="225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FATIGUE · RUST (CHESS-SPECIFIC)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72600" y="3524052"/>
            <a:ext cx="6192526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Linnemer &amp; Visser (2016) · Künn – Palacios-Huerta – Seel (2023)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47750" y="5045273"/>
            <a:ext cx="16192500" cy="1143000"/>
          </a:xfrm>
          <a:prstGeom prst="rect">
            <a:avLst/>
          </a:prstGeom>
          <a:solidFill>
            <a:srgbClr val="7AF7FF">
              <a:alpha val="6000"/>
            </a:srgbClr>
          </a:solidFill>
          <a:ln w="6350">
            <a:solidFill>
              <a:srgbClr val="7AF7FF">
                <a:alpha val="2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58900" y="5318324"/>
            <a:ext cx="16037307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25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FULL REVIEW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58900" y="5635823"/>
            <a:ext cx="16037307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docs/LITERATURE_REVIEW.md </a:t>
            </a:r>
            <a:pPr algn="l" indent="0" marL="0">
              <a:buNone/>
            </a:pPr>
            <a:r>
              <a:rPr lang="en-US" sz="180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15 references with notes &amp; how each informs the feature set.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49500" y="2762250"/>
            <a:ext cx="1600200" cy="1562100"/>
          </a:xfrm>
          <a:prstGeom prst="rect">
            <a:avLst/>
          </a:prstGeom>
          <a:noFill/>
          <a:ln/>
          <a:effectLst>
            <a:outerShdw sx="100000" sy="100000" kx="0" ky="0" algn="bl" rotWithShape="0" blurRad="266700" dist="50800" dir="16200000">
              <a:srgbClr val="7AF7FF">
                <a:alpha val="99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0" dirty="0">
                <a:solidFill>
                  <a:srgbClr val="7AF7FF">
                    <a:alpha val="18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♖</a:t>
            </a:r>
            <a:endParaRPr lang="en-US" sz="12000" dirty="0"/>
          </a:p>
        </p:txBody>
      </p:sp>
      <p:sp>
        <p:nvSpPr>
          <p:cNvPr id="17" name="Shape 15"/>
          <p:cNvSpPr/>
          <p:nvPr/>
        </p:nvSpPr>
        <p:spPr>
          <a:xfrm>
            <a:off x="15049500" y="2619375"/>
            <a:ext cx="196850" cy="9525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5049500" y="2619375"/>
            <a:ext cx="9525" cy="196850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6567150" y="2619375"/>
            <a:ext cx="196850" cy="9525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6757650" y="2619375"/>
            <a:ext cx="9525" cy="196850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049500" y="4327525"/>
            <a:ext cx="196850" cy="9525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5049500" y="4137025"/>
            <a:ext cx="9525" cy="196850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6567150" y="4327525"/>
            <a:ext cx="196850" cy="9525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6757650" y="4137025"/>
            <a:ext cx="9525" cy="196850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66700" y="10013950"/>
            <a:ext cx="273050" cy="9525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66700" y="9747250"/>
            <a:ext cx="9525" cy="273050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7748250" y="10013950"/>
            <a:ext cx="273050" cy="9525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8014950" y="9747250"/>
            <a:ext cx="9525" cy="273050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47750" y="9766300"/>
            <a:ext cx="455484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algn="l" indent="0" marL="0">
              <a:buNone/>
            </a:pPr>
            <a:r>
              <a:rPr lang="en-US" sz="1200" spc="150" kern="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USCF CYBERDECK SCOUT · ML FINAL PROJECT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6520320" y="9766300"/>
            <a:ext cx="79613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13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5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667827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50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07 / 13 · METHODOLOGY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270000"/>
            <a:ext cx="16678275" cy="5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225" kern="0" dirty="0">
                <a:solidFill>
                  <a:srgbClr val="7A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 WAS TRAINED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2039541"/>
            <a:ext cx="16192500" cy="19050"/>
          </a:xfrm>
          <a:prstGeom prst="rect">
            <a:avLst/>
          </a:prstGeom>
          <a:solidFill>
            <a:srgbClr val="7AF7FF"/>
          </a:solidFill>
          <a:ln/>
          <a:effectLst>
            <a:outerShdw sx="100000" sy="100000" kx="0" ky="0" algn="bl" rotWithShape="0" blurRad="76200" dist="50800" dir="16200000">
              <a:srgbClr val="7AF7FF">
                <a:alpha val="6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90650" y="2401491"/>
            <a:ext cx="843322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split: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/ 15% / 15%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1,278 held-out games.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390650" y="2987278"/>
            <a:ext cx="843322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future games leak into past predictions.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90650" y="3573066"/>
            <a:ext cx="8433225" cy="873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tuning: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TimeSeriesSplit(5)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GridSearchCV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training pool.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390650" y="4579541"/>
            <a:ext cx="843322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on all three splits: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AUC, F1, Accuracy, Precision, Recall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0139760" y="2401491"/>
            <a:ext cx="7100392" cy="3117850"/>
          </a:xfrm>
          <a:prstGeom prst="rect">
            <a:avLst/>
          </a:prstGeom>
          <a:solidFill>
            <a:srgbClr val="7AF7FF">
              <a:alpha val="6000"/>
            </a:srgbClr>
          </a:solidFill>
          <a:ln w="6350">
            <a:solidFill>
              <a:srgbClr val="7AF7FF">
                <a:alpha val="2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50910" y="2674541"/>
            <a:ext cx="6672435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25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MODELS COMPARED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0450910" y="3550841"/>
            <a:ext cx="6478092" cy="9525"/>
          </a:xfrm>
          <a:prstGeom prst="rect">
            <a:avLst/>
          </a:prstGeom>
          <a:solidFill>
            <a:srgbClr val="7AF7FF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450910" y="3138091"/>
            <a:ext cx="181927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703551" y="3125391"/>
            <a:ext cx="1301651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benchmark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0450910" y="4115991"/>
            <a:ext cx="6478092" cy="9525"/>
          </a:xfrm>
          <a:prstGeom prst="rect">
            <a:avLst/>
          </a:prstGeom>
          <a:solidFill>
            <a:srgbClr val="7AF7FF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450910" y="3703241"/>
            <a:ext cx="1481237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248162" y="3690541"/>
            <a:ext cx="75703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tuned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0450910" y="4681141"/>
            <a:ext cx="6478092" cy="9525"/>
          </a:xfrm>
          <a:prstGeom prst="rect">
            <a:avLst/>
          </a:prstGeom>
          <a:solidFill>
            <a:srgbClr val="7AF7FF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450910" y="4268391"/>
            <a:ext cx="174486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248162" y="4255691"/>
            <a:ext cx="75703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tuned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0450910" y="4833541"/>
            <a:ext cx="128468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 zero-shot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431195" y="4820841"/>
            <a:ext cx="1574006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38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closed-form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47750" y="6052741"/>
            <a:ext cx="16678275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25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TIMELINE OF GAMES (CHRONOLOGICAL)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047750" y="6370241"/>
            <a:ext cx="16192500" cy="546100"/>
          </a:xfrm>
          <a:prstGeom prst="rect">
            <a:avLst/>
          </a:prstGeom>
          <a:ln w="6350">
            <a:solidFill>
              <a:srgbClr val="7AF7FF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4100" y="6376591"/>
            <a:ext cx="11323241" cy="533400"/>
          </a:xfrm>
          <a:prstGeom prst="rect">
            <a:avLst/>
          </a:prstGeom>
          <a:solidFill>
            <a:srgbClr val="7AF7FF">
              <a:alpha val="1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2370991" y="6376591"/>
            <a:ext cx="9525" cy="533400"/>
          </a:xfrm>
          <a:prstGeom prst="rect">
            <a:avLst/>
          </a:prstGeom>
          <a:solidFill>
            <a:srgbClr val="7AF7FF"/>
          </a:solidFill>
          <a:ln/>
        </p:spPr>
      </p:sp>
      <p:sp>
        <p:nvSpPr>
          <p:cNvPr id="26" name="Text 24"/>
          <p:cNvSpPr/>
          <p:nvPr/>
        </p:nvSpPr>
        <p:spPr>
          <a:xfrm>
            <a:off x="884251" y="6376591"/>
            <a:ext cx="1165658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 · 70%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2377341" y="6376591"/>
            <a:ext cx="2431455" cy="533400"/>
          </a:xfrm>
          <a:prstGeom prst="rect">
            <a:avLst/>
          </a:prstGeom>
          <a:solidFill>
            <a:srgbClr val="A38560">
              <a:alpha val="1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4802446" y="6376591"/>
            <a:ext cx="9525" cy="533400"/>
          </a:xfrm>
          <a:prstGeom prst="rect">
            <a:avLst/>
          </a:prstGeom>
          <a:solidFill>
            <a:srgbClr val="A38560"/>
          </a:solidFill>
          <a:ln/>
        </p:spPr>
      </p:sp>
      <p:sp>
        <p:nvSpPr>
          <p:cNvPr id="29" name="Text 27"/>
          <p:cNvSpPr/>
          <p:nvPr/>
        </p:nvSpPr>
        <p:spPr>
          <a:xfrm>
            <a:off x="12339241" y="6376591"/>
            <a:ext cx="250130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38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· 15%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4808796" y="6376591"/>
            <a:ext cx="2425105" cy="533400"/>
          </a:xfrm>
          <a:prstGeom prst="rect">
            <a:avLst/>
          </a:prstGeom>
          <a:solidFill>
            <a:srgbClr val="D8FFFF">
              <a:alpha val="1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4770696" y="6376591"/>
            <a:ext cx="250130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D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· 15%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47750" y="6973491"/>
            <a:ext cx="3694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2001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107388" y="6973491"/>
            <a:ext cx="14952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6946960" y="6973491"/>
            <a:ext cx="3694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6002000" y="523875"/>
            <a:ext cx="1314450" cy="1276350"/>
          </a:xfrm>
          <a:prstGeom prst="rect">
            <a:avLst/>
          </a:prstGeom>
          <a:noFill/>
          <a:ln/>
          <a:effectLst>
            <a:outerShdw sx="100000" sy="100000" kx="0" ky="0" algn="bl" rotWithShape="0" blurRad="266700" dist="50800" dir="16200000">
              <a:srgbClr val="7AF7FF">
                <a:alpha val="154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0" dirty="0">
                <a:solidFill>
                  <a:srgbClr val="7AF7FF">
                    <a:alpha val="28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♗</a:t>
            </a:r>
            <a:endParaRPr lang="en-US" sz="9750" dirty="0"/>
          </a:p>
        </p:txBody>
      </p:sp>
      <p:sp>
        <p:nvSpPr>
          <p:cNvPr id="36" name="Shape 34"/>
          <p:cNvSpPr/>
          <p:nvPr/>
        </p:nvSpPr>
        <p:spPr>
          <a:xfrm>
            <a:off x="15954375" y="381000"/>
            <a:ext cx="196850" cy="9525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5954375" y="381000"/>
            <a:ext cx="9525" cy="196850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7186275" y="381000"/>
            <a:ext cx="196850" cy="9525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7376775" y="381000"/>
            <a:ext cx="9525" cy="196850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5954375" y="1803400"/>
            <a:ext cx="196850" cy="9525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5954375" y="1612900"/>
            <a:ext cx="9525" cy="196850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7186275" y="1803400"/>
            <a:ext cx="196850" cy="9525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7376775" y="1612900"/>
            <a:ext cx="9525" cy="196850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266700" y="10013950"/>
            <a:ext cx="273050" cy="9525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66700" y="9747250"/>
            <a:ext cx="9525" cy="273050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7748250" y="10013950"/>
            <a:ext cx="273050" cy="9525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8014950" y="9747250"/>
            <a:ext cx="9525" cy="273050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1047750" y="9766300"/>
            <a:ext cx="455484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algn="l" indent="0" marL="0">
              <a:buNone/>
            </a:pPr>
            <a:r>
              <a:rPr lang="en-US" sz="1200" spc="150" kern="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USCF CYBERDECK SCOUT · ML FINAL PROJECT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6520320" y="9766300"/>
            <a:ext cx="79613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13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667827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50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08 / 13 · MODEL RESULTS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270000"/>
            <a:ext cx="16678275" cy="5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225" kern="0" dirty="0">
                <a:solidFill>
                  <a:srgbClr val="7A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HELD-OUT TEST SET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2039541"/>
            <a:ext cx="16192500" cy="19050"/>
          </a:xfrm>
          <a:prstGeom prst="rect">
            <a:avLst/>
          </a:prstGeom>
          <a:solidFill>
            <a:srgbClr val="7AF7FF"/>
          </a:solidFill>
          <a:ln/>
          <a:effectLst>
            <a:outerShdw sx="100000" sy="100000" kx="0" ky="0" algn="bl" rotWithShape="0" blurRad="76200" dist="50800" dir="16200000">
              <a:srgbClr val="7AF7FF">
                <a:alpha val="6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47750" y="2401491"/>
            <a:ext cx="6615113" cy="511175"/>
          </a:xfrm>
          <a:prstGeom prst="rect">
            <a:avLst/>
          </a:prstGeom>
          <a:solidFill>
            <a:srgbClr val="7AF7FF">
              <a:alpha val="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2893616"/>
            <a:ext cx="6615113" cy="19050"/>
          </a:xfrm>
          <a:prstGeom prst="rect">
            <a:avLst/>
          </a:prstGeom>
          <a:solidFill>
            <a:srgbClr val="7AF7FF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" y="2534841"/>
            <a:ext cx="6470666" cy="263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7A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662863" y="2401491"/>
            <a:ext cx="2308027" cy="511175"/>
          </a:xfrm>
          <a:prstGeom prst="rect">
            <a:avLst/>
          </a:prstGeom>
          <a:solidFill>
            <a:srgbClr val="7AF7FF">
              <a:alpha val="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662863" y="2893616"/>
            <a:ext cx="2308027" cy="19050"/>
          </a:xfrm>
          <a:prstGeom prst="rect">
            <a:avLst/>
          </a:prstGeom>
          <a:solidFill>
            <a:srgbClr val="7AF7FF"/>
          </a:solidFill>
          <a:ln/>
        </p:spPr>
      </p:sp>
      <p:sp>
        <p:nvSpPr>
          <p:cNvPr id="10" name="Text 8"/>
          <p:cNvSpPr/>
          <p:nvPr/>
        </p:nvSpPr>
        <p:spPr>
          <a:xfrm>
            <a:off x="7758113" y="2534841"/>
            <a:ext cx="2041327" cy="263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spc="150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 AUC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970889" y="2401491"/>
            <a:ext cx="2653010" cy="511175"/>
          </a:xfrm>
          <a:prstGeom prst="rect">
            <a:avLst/>
          </a:prstGeom>
          <a:solidFill>
            <a:srgbClr val="7AF7FF">
              <a:alpha val="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970889" y="2893616"/>
            <a:ext cx="2653010" cy="19050"/>
          </a:xfrm>
          <a:prstGeom prst="rect">
            <a:avLst/>
          </a:prstGeom>
          <a:solidFill>
            <a:srgbClr val="7AF7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062749" y="2534841"/>
            <a:ext cx="2389700" cy="263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spc="150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AUC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2623899" y="2401491"/>
            <a:ext cx="2308027" cy="511175"/>
          </a:xfrm>
          <a:prstGeom prst="rect">
            <a:avLst/>
          </a:prstGeom>
          <a:solidFill>
            <a:srgbClr val="7AF7FF">
              <a:alpha val="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2623899" y="2893616"/>
            <a:ext cx="2308027" cy="19050"/>
          </a:xfrm>
          <a:prstGeom prst="rect">
            <a:avLst/>
          </a:prstGeom>
          <a:solidFill>
            <a:srgbClr val="7AF7FF"/>
          </a:solidFill>
          <a:ln/>
        </p:spPr>
      </p:sp>
      <p:sp>
        <p:nvSpPr>
          <p:cNvPr id="16" name="Text 14"/>
          <p:cNvSpPr/>
          <p:nvPr/>
        </p:nvSpPr>
        <p:spPr>
          <a:xfrm>
            <a:off x="12719149" y="2534841"/>
            <a:ext cx="2041327" cy="263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spc="150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4931926" y="2401491"/>
            <a:ext cx="2308324" cy="511175"/>
          </a:xfrm>
          <a:prstGeom prst="rect">
            <a:avLst/>
          </a:prstGeom>
          <a:solidFill>
            <a:srgbClr val="7AF7FF">
              <a:alpha val="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4931926" y="2893616"/>
            <a:ext cx="2308324" cy="19050"/>
          </a:xfrm>
          <a:prstGeom prst="rect">
            <a:avLst/>
          </a:prstGeom>
          <a:solidFill>
            <a:srgbClr val="7AF7FF"/>
          </a:solidFill>
          <a:ln/>
        </p:spPr>
      </p:sp>
      <p:sp>
        <p:nvSpPr>
          <p:cNvPr id="19" name="Text 17"/>
          <p:cNvSpPr/>
          <p:nvPr/>
        </p:nvSpPr>
        <p:spPr>
          <a:xfrm>
            <a:off x="15027176" y="2534841"/>
            <a:ext cx="2041624" cy="263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spc="150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47750" y="3522266"/>
            <a:ext cx="6615113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219200" y="3065066"/>
            <a:ext cx="647066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</a:t>
            </a:r>
            <a:pPr algn="l" indent="0" marL="0">
              <a:buNone/>
            </a:pPr>
            <a:r>
              <a:rPr lang="en-US" sz="135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(benchmark)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7662863" y="3522266"/>
            <a:ext cx="2308027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758113" y="3065066"/>
            <a:ext cx="204132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D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0.7924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970889" y="3522266"/>
            <a:ext cx="2653010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062749" y="3065066"/>
            <a:ext cx="2389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D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0.8246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2623899" y="3522266"/>
            <a:ext cx="2308027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2719149" y="3065066"/>
            <a:ext cx="204132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D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0.7254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4931926" y="3522266"/>
            <a:ext cx="2308324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5027176" y="3065066"/>
            <a:ext cx="204162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D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0.7340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047750" y="4131866"/>
            <a:ext cx="6615113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219200" y="3681016"/>
            <a:ext cx="647066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7662863" y="4131866"/>
            <a:ext cx="2308027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758113" y="3681016"/>
            <a:ext cx="204132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D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0.7869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9970889" y="4131866"/>
            <a:ext cx="2653010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0062749" y="3681016"/>
            <a:ext cx="23897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D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0.8234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12623899" y="4131866"/>
            <a:ext cx="2308027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2719149" y="3681016"/>
            <a:ext cx="204132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D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0.7364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4931926" y="4131866"/>
            <a:ext cx="2308324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5027176" y="3681016"/>
            <a:ext cx="204162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D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0.7379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1047750" y="4138216"/>
            <a:ext cx="6615113" cy="609600"/>
          </a:xfrm>
          <a:prstGeom prst="rect">
            <a:avLst/>
          </a:prstGeom>
          <a:solidFill>
            <a:srgbClr val="A38560">
              <a:alpha val="16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047750" y="4741466"/>
            <a:ext cx="6615113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219200" y="4290616"/>
            <a:ext cx="647066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A38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950" dirty="0"/>
          </a:p>
        </p:txBody>
      </p:sp>
      <p:sp>
        <p:nvSpPr>
          <p:cNvPr id="43" name="Shape 41"/>
          <p:cNvSpPr/>
          <p:nvPr/>
        </p:nvSpPr>
        <p:spPr>
          <a:xfrm>
            <a:off x="7662863" y="4138216"/>
            <a:ext cx="2308027" cy="609600"/>
          </a:xfrm>
          <a:prstGeom prst="rect">
            <a:avLst/>
          </a:prstGeom>
          <a:solidFill>
            <a:srgbClr val="A38560">
              <a:alpha val="16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662863" y="4741466"/>
            <a:ext cx="2308027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7758113" y="4290616"/>
            <a:ext cx="204132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A38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0.7871</a:t>
            </a:r>
            <a:endParaRPr lang="en-US" sz="1950" dirty="0"/>
          </a:p>
        </p:txBody>
      </p:sp>
      <p:sp>
        <p:nvSpPr>
          <p:cNvPr id="46" name="Shape 44"/>
          <p:cNvSpPr/>
          <p:nvPr/>
        </p:nvSpPr>
        <p:spPr>
          <a:xfrm>
            <a:off x="9970889" y="4138216"/>
            <a:ext cx="2653010" cy="609600"/>
          </a:xfrm>
          <a:prstGeom prst="rect">
            <a:avLst/>
          </a:prstGeom>
          <a:solidFill>
            <a:srgbClr val="A38560">
              <a:alpha val="16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970889" y="4741466"/>
            <a:ext cx="2653010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10062749" y="4290616"/>
            <a:ext cx="23897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A38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0.8248</a:t>
            </a:r>
            <a:endParaRPr lang="en-US" sz="1950" dirty="0"/>
          </a:p>
        </p:txBody>
      </p:sp>
      <p:sp>
        <p:nvSpPr>
          <p:cNvPr id="49" name="Shape 47"/>
          <p:cNvSpPr/>
          <p:nvPr/>
        </p:nvSpPr>
        <p:spPr>
          <a:xfrm>
            <a:off x="12623899" y="4138216"/>
            <a:ext cx="2308027" cy="609600"/>
          </a:xfrm>
          <a:prstGeom prst="rect">
            <a:avLst/>
          </a:prstGeom>
          <a:solidFill>
            <a:srgbClr val="A38560">
              <a:alpha val="16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2623899" y="4741466"/>
            <a:ext cx="2308027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2719149" y="4290616"/>
            <a:ext cx="204132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A38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0.7367</a:t>
            </a:r>
            <a:endParaRPr lang="en-US" sz="1950" dirty="0"/>
          </a:p>
        </p:txBody>
      </p:sp>
      <p:sp>
        <p:nvSpPr>
          <p:cNvPr id="52" name="Shape 50"/>
          <p:cNvSpPr/>
          <p:nvPr/>
        </p:nvSpPr>
        <p:spPr>
          <a:xfrm>
            <a:off x="14931926" y="4138216"/>
            <a:ext cx="2308324" cy="609600"/>
          </a:xfrm>
          <a:prstGeom prst="rect">
            <a:avLst/>
          </a:prstGeom>
          <a:solidFill>
            <a:srgbClr val="A38560">
              <a:alpha val="16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4931926" y="4741466"/>
            <a:ext cx="2308324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5027176" y="4290616"/>
            <a:ext cx="204162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A38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0.7410</a:t>
            </a:r>
            <a:endParaRPr lang="en-US" sz="1950" dirty="0"/>
          </a:p>
        </p:txBody>
      </p:sp>
      <p:sp>
        <p:nvSpPr>
          <p:cNvPr id="55" name="Shape 53"/>
          <p:cNvSpPr/>
          <p:nvPr/>
        </p:nvSpPr>
        <p:spPr>
          <a:xfrm>
            <a:off x="1047750" y="5351066"/>
            <a:ext cx="6615113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1219200" y="4900216"/>
            <a:ext cx="647066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 zero-shot baseline</a:t>
            </a:r>
            <a:endParaRPr lang="en-US" sz="1950" dirty="0"/>
          </a:p>
        </p:txBody>
      </p:sp>
      <p:sp>
        <p:nvSpPr>
          <p:cNvPr id="57" name="Shape 55"/>
          <p:cNvSpPr/>
          <p:nvPr/>
        </p:nvSpPr>
        <p:spPr>
          <a:xfrm>
            <a:off x="7662863" y="5351066"/>
            <a:ext cx="2308027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7758113" y="4900216"/>
            <a:ext cx="204132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950" dirty="0"/>
          </a:p>
        </p:txBody>
      </p:sp>
      <p:sp>
        <p:nvSpPr>
          <p:cNvPr id="59" name="Shape 57"/>
          <p:cNvSpPr/>
          <p:nvPr/>
        </p:nvSpPr>
        <p:spPr>
          <a:xfrm>
            <a:off x="9970889" y="5351066"/>
            <a:ext cx="2653010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10062749" y="4900216"/>
            <a:ext cx="23897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D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0.8250</a:t>
            </a:r>
            <a:endParaRPr lang="en-US" sz="1950" dirty="0"/>
          </a:p>
        </p:txBody>
      </p:sp>
      <p:sp>
        <p:nvSpPr>
          <p:cNvPr id="61" name="Shape 59"/>
          <p:cNvSpPr/>
          <p:nvPr/>
        </p:nvSpPr>
        <p:spPr>
          <a:xfrm>
            <a:off x="12623899" y="5351066"/>
            <a:ext cx="2308027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2719149" y="4900216"/>
            <a:ext cx="204132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D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0.7429</a:t>
            </a:r>
            <a:endParaRPr lang="en-US" sz="1950" dirty="0"/>
          </a:p>
        </p:txBody>
      </p:sp>
      <p:sp>
        <p:nvSpPr>
          <p:cNvPr id="63" name="Shape 61"/>
          <p:cNvSpPr/>
          <p:nvPr/>
        </p:nvSpPr>
        <p:spPr>
          <a:xfrm>
            <a:off x="14931926" y="5351066"/>
            <a:ext cx="2308324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15027176" y="4900216"/>
            <a:ext cx="204162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D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0.7097</a:t>
            </a:r>
            <a:endParaRPr lang="en-US" sz="1950" dirty="0"/>
          </a:p>
        </p:txBody>
      </p:sp>
      <p:sp>
        <p:nvSpPr>
          <p:cNvPr id="65" name="Shape 63"/>
          <p:cNvSpPr/>
          <p:nvPr/>
        </p:nvSpPr>
        <p:spPr>
          <a:xfrm>
            <a:off x="1047750" y="5741591"/>
            <a:ext cx="7943850" cy="1156891"/>
          </a:xfrm>
          <a:prstGeom prst="rect">
            <a:avLst/>
          </a:prstGeom>
          <a:solidFill>
            <a:srgbClr val="7AF7FF">
              <a:alpha val="6000"/>
            </a:srgbClr>
          </a:solidFill>
          <a:ln w="6350">
            <a:solidFill>
              <a:srgbClr val="7AF7FF">
                <a:alpha val="22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358900" y="6014641"/>
            <a:ext cx="7541197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25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STABILITY</a:t>
            </a:r>
            <a:endParaRPr lang="en-US" sz="1350" dirty="0"/>
          </a:p>
        </p:txBody>
      </p:sp>
      <p:sp>
        <p:nvSpPr>
          <p:cNvPr id="67" name="Text 65"/>
          <p:cNvSpPr/>
          <p:nvPr/>
        </p:nvSpPr>
        <p:spPr>
          <a:xfrm>
            <a:off x="1358900" y="6332141"/>
            <a:ext cx="7541197" cy="331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Per-fold AUC std-dev </a:t>
            </a:r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7A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0.015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results are stable, not lucky.</a:t>
            </a:r>
            <a:endParaRPr lang="en-US" sz="1650" dirty="0"/>
          </a:p>
        </p:txBody>
      </p:sp>
      <p:sp>
        <p:nvSpPr>
          <p:cNvPr id="68" name="Shape 66"/>
          <p:cNvSpPr/>
          <p:nvPr/>
        </p:nvSpPr>
        <p:spPr>
          <a:xfrm>
            <a:off x="9296400" y="5741591"/>
            <a:ext cx="7943850" cy="1156891"/>
          </a:xfrm>
          <a:prstGeom prst="rect">
            <a:avLst/>
          </a:prstGeom>
          <a:solidFill>
            <a:srgbClr val="7AF7FF">
              <a:alpha val="6000"/>
            </a:srgbClr>
          </a:solidFill>
          <a:ln w="6350">
            <a:solidFill>
              <a:srgbClr val="7AF7FF">
                <a:alpha val="22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607550" y="6014641"/>
            <a:ext cx="7541197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25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TEST SET</a:t>
            </a:r>
            <a:endParaRPr lang="en-US" sz="1350" dirty="0"/>
          </a:p>
        </p:txBody>
      </p:sp>
      <p:sp>
        <p:nvSpPr>
          <p:cNvPr id="70" name="Text 68"/>
          <p:cNvSpPr/>
          <p:nvPr/>
        </p:nvSpPr>
        <p:spPr>
          <a:xfrm>
            <a:off x="9607550" y="6332141"/>
            <a:ext cx="7541197" cy="331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7A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1,278 games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never saw · chronologically the most recent slice.</a:t>
            </a:r>
            <a:endParaRPr lang="en-US" sz="1650" dirty="0"/>
          </a:p>
        </p:txBody>
      </p:sp>
      <p:sp>
        <p:nvSpPr>
          <p:cNvPr id="71" name="Text 69"/>
          <p:cNvSpPr/>
          <p:nvPr/>
        </p:nvSpPr>
        <p:spPr>
          <a:xfrm>
            <a:off x="15811500" y="523875"/>
            <a:ext cx="1504950" cy="1466850"/>
          </a:xfrm>
          <a:prstGeom prst="rect">
            <a:avLst/>
          </a:prstGeom>
          <a:noFill/>
          <a:ln/>
          <a:effectLst>
            <a:outerShdw sx="100000" sy="100000" kx="0" ky="0" algn="bl" rotWithShape="0" blurRad="266700" dist="50800" dir="16200000">
              <a:srgbClr val="7AF7FF">
                <a:alpha val="154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0" dirty="0">
                <a:solidFill>
                  <a:srgbClr val="7AF7FF">
                    <a:alpha val="28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♕</a:t>
            </a:r>
            <a:endParaRPr lang="en-US" sz="11250" dirty="0"/>
          </a:p>
        </p:txBody>
      </p:sp>
      <p:sp>
        <p:nvSpPr>
          <p:cNvPr id="72" name="Shape 70"/>
          <p:cNvSpPr/>
          <p:nvPr/>
        </p:nvSpPr>
        <p:spPr>
          <a:xfrm>
            <a:off x="15811500" y="381000"/>
            <a:ext cx="196850" cy="9525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15811500" y="381000"/>
            <a:ext cx="9525" cy="196850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17233900" y="381000"/>
            <a:ext cx="196850" cy="9525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17424400" y="381000"/>
            <a:ext cx="9525" cy="196850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15811500" y="1993900"/>
            <a:ext cx="196850" cy="9525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15811500" y="1803400"/>
            <a:ext cx="9525" cy="196850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17233900" y="1993900"/>
            <a:ext cx="196850" cy="9525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17424400" y="1803400"/>
            <a:ext cx="9525" cy="196850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266700" y="10013950"/>
            <a:ext cx="273050" cy="9525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266700" y="9747250"/>
            <a:ext cx="9525" cy="273050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17748250" y="10013950"/>
            <a:ext cx="273050" cy="9525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18014950" y="9747250"/>
            <a:ext cx="9525" cy="273050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84" name="Text 82"/>
          <p:cNvSpPr/>
          <p:nvPr/>
        </p:nvSpPr>
        <p:spPr>
          <a:xfrm>
            <a:off x="1047750" y="9766300"/>
            <a:ext cx="455484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algn="l" indent="0" marL="0">
              <a:buNone/>
            </a:pPr>
            <a:r>
              <a:rPr lang="en-US" sz="1200" spc="150" kern="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USCF CYBERDECK SCOUT · ML FINAL PROJECT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16520320" y="9766300"/>
            <a:ext cx="79613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13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5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667827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50" kern="0" dirty="0">
                <a:solidFill>
                  <a:srgbClr val="A38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09 / 13 · HONEST FRAMING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270000"/>
            <a:ext cx="16678275" cy="5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225" kern="0" dirty="0">
                <a:solidFill>
                  <a:srgbClr val="A38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MATCHES ELO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2039541"/>
            <a:ext cx="16192500" cy="19050"/>
          </a:xfrm>
          <a:prstGeom prst="rect">
            <a:avLst/>
          </a:prstGeom>
          <a:solidFill>
            <a:srgbClr val="A38560"/>
          </a:solidFill>
          <a:ln/>
          <a:effectLst>
            <a:outerShdw sx="100000" sy="100000" kx="0" ky="0" algn="bl" rotWithShape="0" blurRad="76200" dist="50800" dir="16200000">
              <a:srgbClr val="A38560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90650" y="2401491"/>
            <a:ext cx="8084943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ML models land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~0.002 AUC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Elo.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390650" y="2987278"/>
            <a:ext cx="8084943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70-year-old Elo formula is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shockingly hard to beat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90650" y="3573066"/>
            <a:ext cx="8084943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7A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already captures ~55% of feature importance.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390650" y="4158853"/>
            <a:ext cx="8084943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activity + form contribute ~13% combined — real but secondary.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90650" y="5158978"/>
            <a:ext cx="8084943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Story: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A38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dominates, momentum fine-tunes.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390650" y="5744766"/>
            <a:ext cx="8084943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value lives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layer above prediction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 the scouting report.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801623" y="2401491"/>
            <a:ext cx="7438629" cy="4343400"/>
          </a:xfrm>
          <a:prstGeom prst="rect">
            <a:avLst/>
          </a:prstGeom>
          <a:solidFill>
            <a:srgbClr val="7AF7FF">
              <a:alpha val="6000"/>
            </a:srgbClr>
          </a:solidFill>
          <a:ln w="6350">
            <a:solidFill>
              <a:srgbClr val="7AF7FF">
                <a:alpha val="2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12772" y="2674541"/>
            <a:ext cx="7020818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25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FEATURE IMPORTANCE (GB)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112772" y="3049191"/>
            <a:ext cx="274701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+ rating_diff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951222" y="3096816"/>
            <a:ext cx="3044428" cy="184150"/>
          </a:xfrm>
          <a:prstGeom prst="rect">
            <a:avLst/>
          </a:prstGeom>
          <a:solidFill>
            <a:srgbClr val="7AF7FF">
              <a:alpha val="10000"/>
            </a:srgbClr>
          </a:solidFill>
          <a:ln w="6350">
            <a:solidFill>
              <a:srgbClr val="7AF7FF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957572" y="3103166"/>
            <a:ext cx="3031728" cy="171450"/>
          </a:xfrm>
          <a:prstGeom prst="rect">
            <a:avLst/>
          </a:prstGeom>
          <a:solidFill>
            <a:srgbClr val="A38560"/>
          </a:solidFill>
          <a:ln/>
          <a:effectLst>
            <a:outerShdw sx="100000" sy="100000" kx="0" ky="0" algn="bl" rotWithShape="0" blurRad="95250" dist="50800" dir="16200000">
              <a:srgbClr val="A38560">
                <a:alpha val="5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6090900" y="3055541"/>
            <a:ext cx="838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A38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112772" y="3500041"/>
            <a:ext cx="274701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recent_form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951222" y="3547666"/>
            <a:ext cx="3044428" cy="184150"/>
          </a:xfrm>
          <a:prstGeom prst="rect">
            <a:avLst/>
          </a:prstGeom>
          <a:solidFill>
            <a:srgbClr val="7AF7FF">
              <a:alpha val="10000"/>
            </a:srgbClr>
          </a:solidFill>
          <a:ln w="6350">
            <a:solidFill>
              <a:srgbClr val="7AF7FF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957572" y="3554016"/>
            <a:ext cx="424359" cy="171450"/>
          </a:xfrm>
          <a:prstGeom prst="rect">
            <a:avLst/>
          </a:prstGeom>
          <a:solidFill>
            <a:srgbClr val="7AF7FF"/>
          </a:solidFill>
          <a:ln/>
          <a:effectLst>
            <a:outerShdw sx="100000" sy="100000" kx="0" ky="0" algn="bl" rotWithShape="0" blurRad="95250" dist="50800" dir="16200000">
              <a:srgbClr val="7AF7FF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6090900" y="3506391"/>
            <a:ext cx="838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112772" y="3950891"/>
            <a:ext cx="274701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activity_30d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951222" y="3998516"/>
            <a:ext cx="3044428" cy="184150"/>
          </a:xfrm>
          <a:prstGeom prst="rect">
            <a:avLst/>
          </a:prstGeom>
          <a:solidFill>
            <a:srgbClr val="7AF7FF">
              <a:alpha val="10000"/>
            </a:srgbClr>
          </a:solidFill>
          <a:ln w="6350">
            <a:solidFill>
              <a:srgbClr val="7AF7FF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957572" y="4004866"/>
            <a:ext cx="272852" cy="171450"/>
          </a:xfrm>
          <a:prstGeom prst="rect">
            <a:avLst/>
          </a:prstGeom>
          <a:solidFill>
            <a:srgbClr val="7AF7FF"/>
          </a:solidFill>
          <a:ln/>
          <a:effectLst>
            <a:outerShdw sx="100000" sy="100000" kx="0" ky="0" algn="bl" rotWithShape="0" blurRad="95250" dist="50800" dir="16200000">
              <a:srgbClr val="7AF7FF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6090900" y="3957241"/>
            <a:ext cx="838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112772" y="4401741"/>
            <a:ext cx="274701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upset_history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951222" y="4449366"/>
            <a:ext cx="3044428" cy="184150"/>
          </a:xfrm>
          <a:prstGeom prst="rect">
            <a:avLst/>
          </a:prstGeom>
          <a:solidFill>
            <a:srgbClr val="7AF7FF">
              <a:alpha val="10000"/>
            </a:srgbClr>
          </a:solidFill>
          <a:ln w="6350">
            <a:solidFill>
              <a:srgbClr val="7AF7FF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957572" y="4455716"/>
            <a:ext cx="394097" cy="171450"/>
          </a:xfrm>
          <a:prstGeom prst="rect">
            <a:avLst/>
          </a:prstGeom>
          <a:solidFill>
            <a:srgbClr val="7AF7FF"/>
          </a:solidFill>
          <a:ln/>
          <a:effectLst>
            <a:outerShdw sx="100000" sy="100000" kx="0" ky="0" algn="bl" rotWithShape="0" blurRad="95250" dist="50800" dir="16200000">
              <a:srgbClr val="7AF7FF">
                <a:alpha val="4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6090900" y="4408091"/>
            <a:ext cx="838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112772" y="4852591"/>
            <a:ext cx="274701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opp_volatility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2951222" y="4900216"/>
            <a:ext cx="3044428" cy="184150"/>
          </a:xfrm>
          <a:prstGeom prst="rect">
            <a:avLst/>
          </a:prstGeom>
          <a:solidFill>
            <a:srgbClr val="7AF7FF">
              <a:alpha val="10000"/>
            </a:srgbClr>
          </a:solidFill>
          <a:ln w="6350">
            <a:solidFill>
              <a:srgbClr val="7AF7FF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957572" y="4906566"/>
            <a:ext cx="303113" cy="171450"/>
          </a:xfrm>
          <a:prstGeom prst="rect">
            <a:avLst/>
          </a:prstGeom>
          <a:solidFill>
            <a:srgbClr val="7AF7FF"/>
          </a:solidFill>
          <a:ln/>
          <a:effectLst>
            <a:outerShdw sx="100000" sy="100000" kx="0" ky="0" algn="bl" rotWithShape="0" blurRad="95250" dist="50800" dir="16200000">
              <a:srgbClr val="7AF7FF">
                <a:alpha val="4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6090900" y="4858941"/>
            <a:ext cx="838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6%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112772" y="5303441"/>
            <a:ext cx="274701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schedule_density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2951222" y="5351066"/>
            <a:ext cx="3044428" cy="184150"/>
          </a:xfrm>
          <a:prstGeom prst="rect">
            <a:avLst/>
          </a:prstGeom>
          <a:solidFill>
            <a:srgbClr val="7AF7FF">
              <a:alpha val="10000"/>
            </a:srgbClr>
          </a:solidFill>
          <a:ln w="6350">
            <a:solidFill>
              <a:srgbClr val="7AF7FF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957572" y="5357416"/>
            <a:ext cx="545703" cy="171450"/>
          </a:xfrm>
          <a:prstGeom prst="rect">
            <a:avLst/>
          </a:prstGeom>
          <a:solidFill>
            <a:srgbClr val="7AF7FF"/>
          </a:solidFill>
          <a:ln/>
          <a:effectLst>
            <a:outerShdw sx="100000" sy="100000" kx="0" ky="0" algn="bl" rotWithShape="0" blurRad="95250" dist="50800" dir="16200000">
              <a:srgbClr val="7AF7FF">
                <a:alpha val="4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6090900" y="5309791"/>
            <a:ext cx="838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10%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0112772" y="5754291"/>
            <a:ext cx="274701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(9 features)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2951222" y="5801916"/>
            <a:ext cx="3044428" cy="184150"/>
          </a:xfrm>
          <a:prstGeom prst="rect">
            <a:avLst/>
          </a:prstGeom>
          <a:solidFill>
            <a:srgbClr val="7AF7FF">
              <a:alpha val="10000"/>
            </a:srgbClr>
          </a:solidFill>
          <a:ln w="6350">
            <a:solidFill>
              <a:srgbClr val="7AF7FF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957572" y="5808266"/>
            <a:ext cx="484981" cy="171450"/>
          </a:xfrm>
          <a:prstGeom prst="rect">
            <a:avLst/>
          </a:prstGeom>
          <a:solidFill>
            <a:srgbClr val="7AF7FF"/>
          </a:solidFill>
          <a:ln/>
          <a:effectLst>
            <a:outerShdw sx="100000" sy="100000" kx="0" ky="0" algn="bl" rotWithShape="0" blurRad="95250" dist="50800" dir="16200000">
              <a:srgbClr val="7AF7FF">
                <a:alpha val="4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6090900" y="5760641"/>
            <a:ext cx="838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9%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5811500" y="8001000"/>
            <a:ext cx="1314450" cy="1276350"/>
          </a:xfrm>
          <a:prstGeom prst="rect">
            <a:avLst/>
          </a:prstGeom>
          <a:noFill/>
          <a:ln/>
          <a:effectLst>
            <a:outerShdw sx="100000" sy="100000" kx="0" ky="0" algn="bl" rotWithShape="0" blurRad="266700" dist="50800" dir="16200000">
              <a:srgbClr val="A38560">
                <a:alpha val="187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0" dirty="0">
                <a:solidFill>
                  <a:srgbClr val="A38560">
                    <a:alpha val="34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♘</a:t>
            </a:r>
            <a:endParaRPr lang="en-US" sz="9750" dirty="0"/>
          </a:p>
        </p:txBody>
      </p:sp>
      <p:sp>
        <p:nvSpPr>
          <p:cNvPr id="42" name="Shape 40"/>
          <p:cNvSpPr/>
          <p:nvPr/>
        </p:nvSpPr>
        <p:spPr>
          <a:xfrm>
            <a:off x="15811500" y="7953375"/>
            <a:ext cx="196850" cy="9525"/>
          </a:xfrm>
          <a:prstGeom prst="rect">
            <a:avLst/>
          </a:prstGeom>
          <a:solidFill>
            <a:srgbClr val="A38560">
              <a:alpha val="7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5811500" y="7953375"/>
            <a:ext cx="9525" cy="196850"/>
          </a:xfrm>
          <a:prstGeom prst="rect">
            <a:avLst/>
          </a:prstGeom>
          <a:solidFill>
            <a:srgbClr val="A38560">
              <a:alpha val="7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7043400" y="7953375"/>
            <a:ext cx="196850" cy="9525"/>
          </a:xfrm>
          <a:prstGeom prst="rect">
            <a:avLst/>
          </a:prstGeom>
          <a:solidFill>
            <a:srgbClr val="A38560">
              <a:alpha val="7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7233900" y="7953375"/>
            <a:ext cx="9525" cy="196850"/>
          </a:xfrm>
          <a:prstGeom prst="rect">
            <a:avLst/>
          </a:prstGeom>
          <a:solidFill>
            <a:srgbClr val="A38560">
              <a:alpha val="7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5811500" y="9375775"/>
            <a:ext cx="196850" cy="9525"/>
          </a:xfrm>
          <a:prstGeom prst="rect">
            <a:avLst/>
          </a:prstGeom>
          <a:solidFill>
            <a:srgbClr val="A38560">
              <a:alpha val="7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5811500" y="9185275"/>
            <a:ext cx="9525" cy="196850"/>
          </a:xfrm>
          <a:prstGeom prst="rect">
            <a:avLst/>
          </a:prstGeom>
          <a:solidFill>
            <a:srgbClr val="A38560">
              <a:alpha val="7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7043400" y="9375775"/>
            <a:ext cx="196850" cy="9525"/>
          </a:xfrm>
          <a:prstGeom prst="rect">
            <a:avLst/>
          </a:prstGeom>
          <a:solidFill>
            <a:srgbClr val="A38560">
              <a:alpha val="7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7233900" y="9185275"/>
            <a:ext cx="9525" cy="196850"/>
          </a:xfrm>
          <a:prstGeom prst="rect">
            <a:avLst/>
          </a:prstGeom>
          <a:solidFill>
            <a:srgbClr val="A38560">
              <a:alpha val="7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266700" y="10013950"/>
            <a:ext cx="273050" cy="9525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266700" y="9747250"/>
            <a:ext cx="9525" cy="273050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7748250" y="10013950"/>
            <a:ext cx="273050" cy="9525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8014950" y="9747250"/>
            <a:ext cx="9525" cy="273050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047750" y="9766300"/>
            <a:ext cx="455484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A38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algn="l" indent="0" marL="0">
              <a:buNone/>
            </a:pPr>
            <a:r>
              <a:rPr lang="en-US" sz="1200" spc="150" kern="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USCF CYBERDECK SCOUT · ML FINAL PROJECT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6520320" y="9766300"/>
            <a:ext cx="79613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13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667827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50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10 / 13 · EXTRA CREDIT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270000"/>
            <a:ext cx="16678275" cy="5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225" kern="0" dirty="0">
                <a:solidFill>
                  <a:srgbClr val="7A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4.7 · LLM END-TO-END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2039541"/>
            <a:ext cx="16192500" cy="19050"/>
          </a:xfrm>
          <a:prstGeom prst="rect">
            <a:avLst/>
          </a:prstGeom>
          <a:solidFill>
            <a:srgbClr val="7AF7FF"/>
          </a:solidFill>
          <a:ln/>
          <a:effectLst>
            <a:outerShdw sx="100000" sy="100000" kx="0" ky="0" algn="bl" rotWithShape="0" blurRad="76200" dist="50800" dir="16200000">
              <a:srgbClr val="7AF7FF">
                <a:alpha val="6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90650" y="2401491"/>
            <a:ext cx="16335375" cy="397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held-out test set, </a:t>
            </a:r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60-row sample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(seed = 42).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90650" y="2932013"/>
            <a:ext cx="16335375" cy="397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reasoned per row: </a:t>
            </a:r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 base + recent-form + activity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adjustments.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90650" y="3462536"/>
            <a:ext cx="16335375" cy="397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60 reasoning traces saved alongside predictions for reproducibility.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047750" y="4088309"/>
            <a:ext cx="5810250" cy="511175"/>
          </a:xfrm>
          <a:prstGeom prst="rect">
            <a:avLst/>
          </a:prstGeom>
          <a:solidFill>
            <a:srgbClr val="7AF7FF">
              <a:alpha val="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47750" y="4580434"/>
            <a:ext cx="5810250" cy="19050"/>
          </a:xfrm>
          <a:prstGeom prst="rect">
            <a:avLst/>
          </a:prstGeom>
          <a:solidFill>
            <a:srgbClr val="7AF7FF"/>
          </a:solidFill>
          <a:ln/>
        </p:spPr>
      </p:sp>
      <p:sp>
        <p:nvSpPr>
          <p:cNvPr id="10" name="Text 8"/>
          <p:cNvSpPr/>
          <p:nvPr/>
        </p:nvSpPr>
        <p:spPr>
          <a:xfrm>
            <a:off x="1219200" y="4221659"/>
            <a:ext cx="5641658" cy="263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7A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0" y="4088309"/>
            <a:ext cx="2225576" cy="511175"/>
          </a:xfrm>
          <a:prstGeom prst="rect">
            <a:avLst/>
          </a:prstGeom>
          <a:solidFill>
            <a:srgbClr val="7AF7FF">
              <a:alpha val="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0" y="4580434"/>
            <a:ext cx="2225576" cy="19050"/>
          </a:xfrm>
          <a:prstGeom prst="rect">
            <a:avLst/>
          </a:prstGeom>
          <a:solidFill>
            <a:srgbClr val="7AF7FF"/>
          </a:solidFill>
          <a:ln/>
        </p:spPr>
      </p:sp>
      <p:sp>
        <p:nvSpPr>
          <p:cNvPr id="13" name="Text 11"/>
          <p:cNvSpPr/>
          <p:nvPr/>
        </p:nvSpPr>
        <p:spPr>
          <a:xfrm>
            <a:off x="6953250" y="4221659"/>
            <a:ext cx="1958876" cy="263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spc="150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083576" y="4088309"/>
            <a:ext cx="2521446" cy="511175"/>
          </a:xfrm>
          <a:prstGeom prst="rect">
            <a:avLst/>
          </a:prstGeom>
          <a:solidFill>
            <a:srgbClr val="7AF7FF">
              <a:alpha val="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083576" y="4580434"/>
            <a:ext cx="2521446" cy="19050"/>
          </a:xfrm>
          <a:prstGeom prst="rect">
            <a:avLst/>
          </a:prstGeom>
          <a:solidFill>
            <a:srgbClr val="7AF7FF"/>
          </a:solidFill>
          <a:ln/>
        </p:spPr>
      </p:sp>
      <p:sp>
        <p:nvSpPr>
          <p:cNvPr id="16" name="Text 14"/>
          <p:cNvSpPr/>
          <p:nvPr/>
        </p:nvSpPr>
        <p:spPr>
          <a:xfrm>
            <a:off x="9178826" y="4221659"/>
            <a:ext cx="2254746" cy="263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spc="150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1605022" y="4088309"/>
            <a:ext cx="3113584" cy="511175"/>
          </a:xfrm>
          <a:prstGeom prst="rect">
            <a:avLst/>
          </a:prstGeom>
          <a:solidFill>
            <a:srgbClr val="7AF7FF">
              <a:alpha val="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605022" y="4580434"/>
            <a:ext cx="3113584" cy="19050"/>
          </a:xfrm>
          <a:prstGeom prst="rect">
            <a:avLst/>
          </a:prstGeom>
          <a:solidFill>
            <a:srgbClr val="7AF7FF"/>
          </a:solidFill>
          <a:ln/>
        </p:spPr>
      </p:sp>
      <p:sp>
        <p:nvSpPr>
          <p:cNvPr id="19" name="Text 17"/>
          <p:cNvSpPr/>
          <p:nvPr/>
        </p:nvSpPr>
        <p:spPr>
          <a:xfrm>
            <a:off x="11683064" y="4221659"/>
            <a:ext cx="2864091" cy="263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spc="150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4718606" y="4088309"/>
            <a:ext cx="2521645" cy="511175"/>
          </a:xfrm>
          <a:prstGeom prst="rect">
            <a:avLst/>
          </a:prstGeom>
          <a:solidFill>
            <a:srgbClr val="7AF7FF">
              <a:alpha val="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718606" y="4580434"/>
            <a:ext cx="2521645" cy="19050"/>
          </a:xfrm>
          <a:prstGeom prst="rect">
            <a:avLst/>
          </a:prstGeom>
          <a:solidFill>
            <a:srgbClr val="7AF7FF"/>
          </a:solidFill>
          <a:ln/>
        </p:spPr>
      </p:sp>
      <p:sp>
        <p:nvSpPr>
          <p:cNvPr id="22" name="Text 20"/>
          <p:cNvSpPr/>
          <p:nvPr/>
        </p:nvSpPr>
        <p:spPr>
          <a:xfrm>
            <a:off x="14813856" y="4221659"/>
            <a:ext cx="2254945" cy="263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spc="150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047750" y="5209084"/>
            <a:ext cx="5810250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219200" y="4751884"/>
            <a:ext cx="564165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(ML)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6858000" y="5209084"/>
            <a:ext cx="2225576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953250" y="4751884"/>
            <a:ext cx="19588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D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1,278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9083576" y="5209084"/>
            <a:ext cx="2521446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9178826" y="4751884"/>
            <a:ext cx="225474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D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0.8248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11605022" y="5209084"/>
            <a:ext cx="3113584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1683064" y="4751884"/>
            <a:ext cx="286409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D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0.7367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14718606" y="5209084"/>
            <a:ext cx="2521645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4813856" y="4751884"/>
            <a:ext cx="22549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D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0.7410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047750" y="5818684"/>
            <a:ext cx="5810250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219200" y="5367834"/>
            <a:ext cx="564165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 zero-shot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6858000" y="5818684"/>
            <a:ext cx="2225576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953250" y="5367834"/>
            <a:ext cx="195887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D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1,278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9083576" y="5818684"/>
            <a:ext cx="2521446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9178826" y="5367834"/>
            <a:ext cx="225474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D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0.8250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11605022" y="5818684"/>
            <a:ext cx="3113584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1683064" y="5367834"/>
            <a:ext cx="286409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D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0.7429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14718606" y="5818684"/>
            <a:ext cx="2521645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4813856" y="5367834"/>
            <a:ext cx="225494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D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0.7097</a:t>
            </a:r>
            <a:endParaRPr lang="en-US" sz="1950" dirty="0"/>
          </a:p>
        </p:txBody>
      </p:sp>
      <p:sp>
        <p:nvSpPr>
          <p:cNvPr id="43" name="Shape 41"/>
          <p:cNvSpPr/>
          <p:nvPr/>
        </p:nvSpPr>
        <p:spPr>
          <a:xfrm>
            <a:off x="1047750" y="5825034"/>
            <a:ext cx="5810250" cy="609600"/>
          </a:xfrm>
          <a:prstGeom prst="rect">
            <a:avLst/>
          </a:prstGeom>
          <a:solidFill>
            <a:srgbClr val="A38560">
              <a:alpha val="16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047750" y="6428284"/>
            <a:ext cx="5810250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219200" y="5977434"/>
            <a:ext cx="564165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A38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4.7</a:t>
            </a:r>
            <a:endParaRPr lang="en-US" sz="1950" dirty="0"/>
          </a:p>
        </p:txBody>
      </p:sp>
      <p:sp>
        <p:nvSpPr>
          <p:cNvPr id="46" name="Shape 44"/>
          <p:cNvSpPr/>
          <p:nvPr/>
        </p:nvSpPr>
        <p:spPr>
          <a:xfrm>
            <a:off x="6858000" y="5825034"/>
            <a:ext cx="2225576" cy="609600"/>
          </a:xfrm>
          <a:prstGeom prst="rect">
            <a:avLst/>
          </a:prstGeom>
          <a:solidFill>
            <a:srgbClr val="A38560">
              <a:alpha val="16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58000" y="6428284"/>
            <a:ext cx="2225576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953250" y="5977434"/>
            <a:ext cx="195887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A38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1950" dirty="0"/>
          </a:p>
        </p:txBody>
      </p:sp>
      <p:sp>
        <p:nvSpPr>
          <p:cNvPr id="49" name="Shape 47"/>
          <p:cNvSpPr/>
          <p:nvPr/>
        </p:nvSpPr>
        <p:spPr>
          <a:xfrm>
            <a:off x="9083576" y="5825034"/>
            <a:ext cx="2521446" cy="609600"/>
          </a:xfrm>
          <a:prstGeom prst="rect">
            <a:avLst/>
          </a:prstGeom>
          <a:solidFill>
            <a:srgbClr val="A38560">
              <a:alpha val="16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083576" y="6428284"/>
            <a:ext cx="2521446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9178826" y="5977434"/>
            <a:ext cx="225474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A38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0.7239</a:t>
            </a:r>
            <a:endParaRPr lang="en-US" sz="1950" dirty="0"/>
          </a:p>
        </p:txBody>
      </p:sp>
      <p:sp>
        <p:nvSpPr>
          <p:cNvPr id="52" name="Shape 50"/>
          <p:cNvSpPr/>
          <p:nvPr/>
        </p:nvSpPr>
        <p:spPr>
          <a:xfrm>
            <a:off x="11605022" y="5825034"/>
            <a:ext cx="3113584" cy="609600"/>
          </a:xfrm>
          <a:prstGeom prst="rect">
            <a:avLst/>
          </a:prstGeom>
          <a:solidFill>
            <a:srgbClr val="A38560">
              <a:alpha val="16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605022" y="6428284"/>
            <a:ext cx="3113584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1683064" y="5977434"/>
            <a:ext cx="286409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A38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0.7463 ↑</a:t>
            </a:r>
            <a:endParaRPr lang="en-US" sz="1950" dirty="0"/>
          </a:p>
        </p:txBody>
      </p:sp>
      <p:sp>
        <p:nvSpPr>
          <p:cNvPr id="55" name="Shape 53"/>
          <p:cNvSpPr/>
          <p:nvPr/>
        </p:nvSpPr>
        <p:spPr>
          <a:xfrm>
            <a:off x="14718606" y="5825034"/>
            <a:ext cx="2521645" cy="609600"/>
          </a:xfrm>
          <a:prstGeom prst="rect">
            <a:avLst/>
          </a:prstGeom>
          <a:solidFill>
            <a:srgbClr val="A38560">
              <a:alpha val="16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4718606" y="6428284"/>
            <a:ext cx="2521645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14813856" y="5977434"/>
            <a:ext cx="225494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A38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0.7167</a:t>
            </a:r>
            <a:endParaRPr lang="en-US" sz="1950" dirty="0"/>
          </a:p>
        </p:txBody>
      </p:sp>
      <p:sp>
        <p:nvSpPr>
          <p:cNvPr id="58" name="Shape 56"/>
          <p:cNvSpPr/>
          <p:nvPr/>
        </p:nvSpPr>
        <p:spPr>
          <a:xfrm>
            <a:off x="1047750" y="6723559"/>
            <a:ext cx="7962900" cy="1156891"/>
          </a:xfrm>
          <a:prstGeom prst="rect">
            <a:avLst/>
          </a:prstGeom>
          <a:solidFill>
            <a:srgbClr val="A38560">
              <a:alpha val="8000"/>
            </a:srgbClr>
          </a:solidFill>
          <a:ln w="6350">
            <a:solidFill>
              <a:srgbClr val="A38560">
                <a:alpha val="6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358900" y="6996609"/>
            <a:ext cx="7560818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25" kern="0" dirty="0">
                <a:solidFill>
                  <a:srgbClr val="A38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STRENGTH</a:t>
            </a: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1358900" y="7314109"/>
            <a:ext cx="7560818" cy="331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A38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F1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A38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any approach · aggressive on wins (recall 0.93).</a:t>
            </a:r>
            <a:endParaRPr lang="en-US" sz="1650" dirty="0"/>
          </a:p>
        </p:txBody>
      </p:sp>
      <p:sp>
        <p:nvSpPr>
          <p:cNvPr id="61" name="Shape 59"/>
          <p:cNvSpPr/>
          <p:nvPr/>
        </p:nvSpPr>
        <p:spPr>
          <a:xfrm>
            <a:off x="9277350" y="6723559"/>
            <a:ext cx="7962900" cy="1156891"/>
          </a:xfrm>
          <a:prstGeom prst="rect">
            <a:avLst/>
          </a:prstGeom>
          <a:solidFill>
            <a:srgbClr val="7AF7FF">
              <a:alpha val="6000"/>
            </a:srgbClr>
          </a:solidFill>
          <a:ln w="6350">
            <a:solidFill>
              <a:srgbClr val="7AF7FF">
                <a:alpha val="22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588500" y="6996609"/>
            <a:ext cx="7560818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25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WEAKNESS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9588500" y="7314109"/>
            <a:ext cx="7560818" cy="331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AUC — continuous-probability </a:t>
            </a:r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is weaker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supervised ML.</a:t>
            </a:r>
            <a:endParaRPr lang="en-US" sz="1650" dirty="0"/>
          </a:p>
        </p:txBody>
      </p:sp>
      <p:sp>
        <p:nvSpPr>
          <p:cNvPr id="64" name="Text 62"/>
          <p:cNvSpPr/>
          <p:nvPr/>
        </p:nvSpPr>
        <p:spPr>
          <a:xfrm>
            <a:off x="804862" y="8089999"/>
            <a:ext cx="16678275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spc="75" kern="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summary: </a:t>
            </a:r>
            <a:pPr algn="ctr" indent="0" marL="0">
              <a:buNone/>
            </a:pPr>
            <a:r>
              <a:rPr lang="en-US" sz="1650" spc="75" kern="0" dirty="0">
                <a:solidFill>
                  <a:srgbClr val="7A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matches ML on threshold decisions, trails on calibration.</a:t>
            </a:r>
            <a:endParaRPr lang="en-US" sz="1650" dirty="0"/>
          </a:p>
        </p:txBody>
      </p:sp>
      <p:sp>
        <p:nvSpPr>
          <p:cNvPr id="65" name="Text 63"/>
          <p:cNvSpPr/>
          <p:nvPr/>
        </p:nvSpPr>
        <p:spPr>
          <a:xfrm>
            <a:off x="14859000" y="523875"/>
            <a:ext cx="1219200" cy="1181100"/>
          </a:xfrm>
          <a:prstGeom prst="rect">
            <a:avLst/>
          </a:prstGeom>
          <a:noFill/>
          <a:ln/>
          <a:effectLst>
            <a:outerShdw sx="100000" sy="100000" kx="0" ky="0" algn="bl" rotWithShape="0" blurRad="266700" dist="50800" dir="16200000">
              <a:srgbClr val="7AF7FF">
                <a:alpha val="187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0" dirty="0">
                <a:solidFill>
                  <a:srgbClr val="7AF7FF">
                    <a:alpha val="34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♔</a:t>
            </a:r>
            <a:endParaRPr lang="en-US" sz="9000" dirty="0"/>
          </a:p>
        </p:txBody>
      </p:sp>
      <p:sp>
        <p:nvSpPr>
          <p:cNvPr id="66" name="Text 64"/>
          <p:cNvSpPr/>
          <p:nvPr/>
        </p:nvSpPr>
        <p:spPr>
          <a:xfrm>
            <a:off x="15925800" y="666750"/>
            <a:ext cx="1104900" cy="1066800"/>
          </a:xfrm>
          <a:prstGeom prst="rect">
            <a:avLst/>
          </a:prstGeom>
          <a:noFill/>
          <a:ln/>
          <a:effectLst>
            <a:outerShdw sx="100000" sy="100000" kx="0" ky="0" algn="bl" rotWithShape="0" blurRad="266700" dist="50800" dir="16200000">
              <a:srgbClr val="A38560">
                <a:alpha val="198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0" dirty="0">
                <a:solidFill>
                  <a:srgbClr val="A38560">
                    <a:alpha val="36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8100" dirty="0"/>
          </a:p>
        </p:txBody>
      </p:sp>
      <p:sp>
        <p:nvSpPr>
          <p:cNvPr id="67" name="Shape 65"/>
          <p:cNvSpPr/>
          <p:nvPr/>
        </p:nvSpPr>
        <p:spPr>
          <a:xfrm>
            <a:off x="14763750" y="381000"/>
            <a:ext cx="196850" cy="9525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14763750" y="381000"/>
            <a:ext cx="9525" cy="196850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6948150" y="381000"/>
            <a:ext cx="196850" cy="9525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17138650" y="381000"/>
            <a:ext cx="9525" cy="196850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4763750" y="1898650"/>
            <a:ext cx="196850" cy="9525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14763750" y="1708150"/>
            <a:ext cx="9525" cy="196850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16948150" y="1898650"/>
            <a:ext cx="196850" cy="9525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17138650" y="1708150"/>
            <a:ext cx="9525" cy="196850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266700" y="10013950"/>
            <a:ext cx="273050" cy="9525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266700" y="9747250"/>
            <a:ext cx="9525" cy="273050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17748250" y="10013950"/>
            <a:ext cx="273050" cy="9525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18014950" y="9747250"/>
            <a:ext cx="9525" cy="273050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1047750" y="9766300"/>
            <a:ext cx="455484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algn="l" indent="0" marL="0">
              <a:buNone/>
            </a:pPr>
            <a:r>
              <a:rPr lang="en-US" sz="1200" spc="150" kern="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USCF CYBERDECK SCOUT · ML FINAL PROJECT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16520320" y="9766300"/>
            <a:ext cx="79613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13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5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667827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50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11 / 13 · PRODUCT LAYER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270000"/>
            <a:ext cx="16678275" cy="5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225" kern="0" dirty="0">
                <a:solidFill>
                  <a:srgbClr val="7A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SEE IN THE DEMO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2039541"/>
            <a:ext cx="16192500" cy="19050"/>
          </a:xfrm>
          <a:prstGeom prst="rect">
            <a:avLst/>
          </a:prstGeom>
          <a:solidFill>
            <a:srgbClr val="7AF7FF"/>
          </a:solidFill>
          <a:ln/>
          <a:effectLst>
            <a:outerShdw sx="100000" sy="100000" kx="0" ky="0" algn="bl" rotWithShape="0" blurRad="76200" dist="50800" dir="16200000">
              <a:srgbClr val="7AF7FF">
                <a:alpha val="6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47750" y="2401491"/>
            <a:ext cx="3136900" cy="1841500"/>
          </a:xfrm>
          <a:prstGeom prst="rect">
            <a:avLst/>
          </a:prstGeom>
          <a:solidFill>
            <a:srgbClr val="7AF7FF">
              <a:alpha val="6000"/>
            </a:srgbClr>
          </a:solidFill>
          <a:ln w="6350">
            <a:solidFill>
              <a:srgbClr val="7AF7FF">
                <a:alpha val="2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42695" y="2617391"/>
            <a:ext cx="274701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spc="225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UNDERRATED POTENTIAL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42695" y="2871391"/>
            <a:ext cx="2747010" cy="952500"/>
          </a:xfrm>
          <a:prstGeom prst="rect">
            <a:avLst/>
          </a:prstGeom>
          <a:noFill/>
          <a:ln/>
          <a:effectLst>
            <a:outerShdw sx="100000" sy="100000" kx="0" ky="0" algn="bl" rotWithShape="0" blurRad="171450" dist="50800" dir="16200000">
              <a:srgbClr val="A38560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A38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73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1242695" y="3823891"/>
            <a:ext cx="274701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75" kern="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— 100 · per player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89450" y="2401491"/>
            <a:ext cx="4148634" cy="844550"/>
          </a:xfrm>
          <a:prstGeom prst="rect">
            <a:avLst/>
          </a:prstGeom>
          <a:solidFill>
            <a:srgbClr val="7AF7FF">
              <a:alpha val="6000"/>
            </a:srgbClr>
          </a:solidFill>
          <a:ln w="6350">
            <a:solidFill>
              <a:srgbClr val="7AF7FF">
                <a:alpha val="2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7250" y="2541191"/>
            <a:ext cx="390682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UPSET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7250" y="2788841"/>
            <a:ext cx="390682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81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790484" y="2401491"/>
            <a:ext cx="4148634" cy="844550"/>
          </a:xfrm>
          <a:prstGeom prst="rect">
            <a:avLst/>
          </a:prstGeom>
          <a:solidFill>
            <a:srgbClr val="7AF7FF">
              <a:alpha val="6000"/>
            </a:srgbClr>
          </a:solidFill>
          <a:ln w="6350">
            <a:solidFill>
              <a:srgbClr val="7AF7FF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8284" y="2541191"/>
            <a:ext cx="390682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RECENT FORM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968284" y="2788841"/>
            <a:ext cx="390682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3091517" y="2401491"/>
            <a:ext cx="4148634" cy="844550"/>
          </a:xfrm>
          <a:prstGeom prst="rect">
            <a:avLst/>
          </a:prstGeom>
          <a:solidFill>
            <a:srgbClr val="7AF7FF">
              <a:alpha val="6000"/>
            </a:srgbClr>
          </a:solidFill>
          <a:ln w="6350">
            <a:solidFill>
              <a:srgbClr val="7AF7FF">
                <a:alpha val="2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269318" y="2541191"/>
            <a:ext cx="390682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MOMENTUM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269318" y="2788841"/>
            <a:ext cx="390682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74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4489450" y="3398441"/>
            <a:ext cx="4148634" cy="844550"/>
          </a:xfrm>
          <a:prstGeom prst="rect">
            <a:avLst/>
          </a:prstGeom>
          <a:solidFill>
            <a:srgbClr val="7AF7FF">
              <a:alpha val="6000"/>
            </a:srgbClr>
          </a:solidFill>
          <a:ln w="6350">
            <a:solidFill>
              <a:srgbClr val="7AF7FF">
                <a:alpha val="2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7250" y="3538141"/>
            <a:ext cx="390682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SCHEDULE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7250" y="3785791"/>
            <a:ext cx="390682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8790484" y="3398441"/>
            <a:ext cx="4148634" cy="844550"/>
          </a:xfrm>
          <a:prstGeom prst="rect">
            <a:avLst/>
          </a:prstGeom>
          <a:solidFill>
            <a:srgbClr val="7AF7FF">
              <a:alpha val="6000"/>
            </a:srgbClr>
          </a:solidFill>
          <a:ln w="6350">
            <a:solidFill>
              <a:srgbClr val="7AF7FF">
                <a:alpha val="2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8284" y="3538141"/>
            <a:ext cx="390682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ACTIVITY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68284" y="3785791"/>
            <a:ext cx="390682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3091517" y="3398441"/>
            <a:ext cx="4148634" cy="844550"/>
          </a:xfrm>
          <a:prstGeom prst="rect">
            <a:avLst/>
          </a:prstGeom>
          <a:solidFill>
            <a:srgbClr val="7AF7FF">
              <a:alpha val="6000"/>
            </a:srgbClr>
          </a:solidFill>
          <a:ln w="6350">
            <a:solidFill>
              <a:srgbClr val="7AF7FF">
                <a:alpha val="2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269318" y="3538141"/>
            <a:ext cx="390682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VOLATILITY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269318" y="3785791"/>
            <a:ext cx="390682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390650" y="4585891"/>
            <a:ext cx="16335375" cy="397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interpretable subscores built on top of the model output.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390650" y="5078313"/>
            <a:ext cx="16335375" cy="397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/ geography: home region, miles traveled, time-control profile.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390650" y="5570736"/>
            <a:ext cx="16335375" cy="397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bullets: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7A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this player might be dangerous."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390650" y="6063159"/>
            <a:ext cx="16335375" cy="397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chess-prep coaching tips per opponent matchup.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390650" y="6555581"/>
            <a:ext cx="16335375" cy="397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demo next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A38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7 pages, deployed on Streamlit Community Cloud.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5906750" y="523875"/>
            <a:ext cx="1409700" cy="1371600"/>
          </a:xfrm>
          <a:prstGeom prst="rect">
            <a:avLst/>
          </a:prstGeom>
          <a:noFill/>
          <a:ln/>
          <a:effectLst>
            <a:outerShdw sx="100000" sy="100000" kx="0" ky="0" algn="bl" rotWithShape="0" blurRad="266700" dist="50800" dir="16200000">
              <a:srgbClr val="7AF7FF">
                <a:alpha val="154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0" dirty="0">
                <a:solidFill>
                  <a:srgbClr val="7AF7FF">
                    <a:alpha val="28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♖</a:t>
            </a:r>
            <a:endParaRPr lang="en-US" sz="10500" dirty="0"/>
          </a:p>
        </p:txBody>
      </p:sp>
      <p:sp>
        <p:nvSpPr>
          <p:cNvPr id="33" name="Shape 31"/>
          <p:cNvSpPr/>
          <p:nvPr/>
        </p:nvSpPr>
        <p:spPr>
          <a:xfrm>
            <a:off x="15906750" y="381000"/>
            <a:ext cx="196850" cy="9525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5906750" y="381000"/>
            <a:ext cx="9525" cy="196850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7233900" y="381000"/>
            <a:ext cx="196850" cy="9525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7424400" y="381000"/>
            <a:ext cx="9525" cy="196850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5906750" y="1898650"/>
            <a:ext cx="196850" cy="9525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5906750" y="1708150"/>
            <a:ext cx="9525" cy="196850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7233900" y="1898650"/>
            <a:ext cx="196850" cy="9525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7424400" y="1708150"/>
            <a:ext cx="9525" cy="196850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266700" y="10013950"/>
            <a:ext cx="273050" cy="9525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266700" y="9747250"/>
            <a:ext cx="9525" cy="273050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7748250" y="10013950"/>
            <a:ext cx="273050" cy="9525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8014950" y="9747250"/>
            <a:ext cx="9525" cy="273050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047750" y="9766300"/>
            <a:ext cx="455484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algn="l" indent="0" marL="0">
              <a:buNone/>
            </a:pPr>
            <a:r>
              <a:rPr lang="en-US" sz="1200" spc="150" kern="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USCF CYBERDECK SCOUT · ML FINAL PROJECT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3743682" y="9766300"/>
            <a:ext cx="360146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13 · </a:t>
            </a:r>
            <a:pPr algn="l" indent="0" marL="0">
              <a:buNone/>
            </a:pPr>
            <a:r>
              <a:rPr lang="en-US" sz="1200" spc="150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SWITCH TO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667827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50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12 / 13 · HONESTY CHECK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270000"/>
            <a:ext cx="16678275" cy="5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225" kern="0" dirty="0">
                <a:solidFill>
                  <a:srgbClr val="7A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TOOL DOES NOT DO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2039541"/>
            <a:ext cx="16192500" cy="19050"/>
          </a:xfrm>
          <a:prstGeom prst="rect">
            <a:avLst/>
          </a:prstGeom>
          <a:solidFill>
            <a:srgbClr val="7AF7FF"/>
          </a:solidFill>
          <a:ln/>
          <a:effectLst>
            <a:outerShdw sx="100000" sy="100000" kx="0" ky="0" algn="bl" rotWithShape="0" blurRad="76200" dist="50800" dir="16200000">
              <a:srgbClr val="7AF7FF">
                <a:alpha val="6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90650" y="2401491"/>
            <a:ext cx="1633537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is a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scouting signal, not an accusation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We never say "smurf."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390650" y="2987278"/>
            <a:ext cx="1633537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remains the strongest single predictor — we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context, not replacement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90650" y="3573066"/>
            <a:ext cx="1633537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distances are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(city/state centroid; USCF hides event GPS).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390650" y="4158853"/>
            <a:ext cx="16335375" cy="458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rating_change_*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proxies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chronological pre-ratings (post-rating not parsed yet).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90650" y="4750991"/>
            <a:ext cx="1633537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A38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USCF lookup on demand · deeper geocoding · supervised "predict rating gain" model.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5335250" y="7810500"/>
            <a:ext cx="1314450" cy="1276350"/>
          </a:xfrm>
          <a:prstGeom prst="rect">
            <a:avLst/>
          </a:prstGeom>
          <a:noFill/>
          <a:ln/>
          <a:effectLst>
            <a:outerShdw sx="100000" sy="100000" kx="0" ky="0" algn="bl" rotWithShape="0" blurRad="266700" dist="50800" dir="16200000">
              <a:srgbClr val="7AF7FF">
                <a:alpha val="165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0" dirty="0">
                <a:solidFill>
                  <a:srgbClr val="7AF7FF">
                    <a:alpha val="30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♙</a:t>
            </a:r>
            <a:endParaRPr lang="en-US" sz="9750" dirty="0"/>
          </a:p>
        </p:txBody>
      </p:sp>
      <p:sp>
        <p:nvSpPr>
          <p:cNvPr id="11" name="Shape 9"/>
          <p:cNvSpPr/>
          <p:nvPr/>
        </p:nvSpPr>
        <p:spPr>
          <a:xfrm>
            <a:off x="15335250" y="7762875"/>
            <a:ext cx="196850" cy="9525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5335250" y="7762875"/>
            <a:ext cx="9525" cy="196850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6567150" y="7762875"/>
            <a:ext cx="196850" cy="9525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6757650" y="7762875"/>
            <a:ext cx="9525" cy="196850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5335250" y="9185275"/>
            <a:ext cx="196850" cy="9525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5335250" y="8994775"/>
            <a:ext cx="9525" cy="196850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567150" y="9185275"/>
            <a:ext cx="196850" cy="9525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6757650" y="8994775"/>
            <a:ext cx="9525" cy="196850"/>
          </a:xfrm>
          <a:prstGeom prst="rect">
            <a:avLst/>
          </a:prstGeom>
          <a:solidFill>
            <a:srgbClr val="7AF7FF">
              <a:alpha val="7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66700" y="10013950"/>
            <a:ext cx="273050" cy="9525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66700" y="9747250"/>
            <a:ext cx="9525" cy="273050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7748250" y="10013950"/>
            <a:ext cx="273050" cy="9525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014950" y="9747250"/>
            <a:ext cx="9525" cy="273050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47750" y="9766300"/>
            <a:ext cx="455484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algn="l" indent="0" marL="0">
              <a:buNone/>
            </a:pPr>
            <a:r>
              <a:rPr lang="en-US" sz="1200" spc="150" kern="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USCF CYBERDECK SCOUT · ML FINAL PROJECT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520320" y="9766300"/>
            <a:ext cx="79613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5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667827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50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13 / 13 · CLOSE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270000"/>
            <a:ext cx="16678275" cy="5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225" kern="0" dirty="0">
                <a:solidFill>
                  <a:srgbClr val="7A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MAP · TAKE-HOME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2039541"/>
            <a:ext cx="16192500" cy="19050"/>
          </a:xfrm>
          <a:prstGeom prst="rect">
            <a:avLst/>
          </a:prstGeom>
          <a:solidFill>
            <a:srgbClr val="7AF7FF"/>
          </a:solidFill>
          <a:ln/>
          <a:effectLst>
            <a:outerShdw sx="100000" sy="100000" kx="0" ky="0" algn="bl" rotWithShape="0" blurRad="76200" dist="50800" dir="16200000">
              <a:srgbClr val="7AF7FF">
                <a:alpha val="6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47750" y="2401491"/>
            <a:ext cx="8627022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25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RUBRIC MAP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047750" y="2718991"/>
            <a:ext cx="2903538" cy="511175"/>
          </a:xfrm>
          <a:prstGeom prst="rect">
            <a:avLst/>
          </a:prstGeom>
          <a:solidFill>
            <a:srgbClr val="7AF7FF">
              <a:alpha val="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3211116"/>
            <a:ext cx="2903538" cy="19050"/>
          </a:xfrm>
          <a:prstGeom prst="rect">
            <a:avLst/>
          </a:prstGeom>
          <a:solidFill>
            <a:srgbClr val="7AF7FF"/>
          </a:solidFill>
          <a:ln/>
        </p:spPr>
      </p:sp>
      <p:sp>
        <p:nvSpPr>
          <p:cNvPr id="8" name="Text 6"/>
          <p:cNvSpPr/>
          <p:nvPr/>
        </p:nvSpPr>
        <p:spPr>
          <a:xfrm>
            <a:off x="1219200" y="2852341"/>
            <a:ext cx="2647744" cy="263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7A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951288" y="2718991"/>
            <a:ext cx="5472212" cy="511175"/>
          </a:xfrm>
          <a:prstGeom prst="rect">
            <a:avLst/>
          </a:prstGeom>
          <a:solidFill>
            <a:srgbClr val="7AF7FF">
              <a:alpha val="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951288" y="3211116"/>
            <a:ext cx="5472212" cy="19050"/>
          </a:xfrm>
          <a:prstGeom prst="rect">
            <a:avLst/>
          </a:prstGeom>
          <a:solidFill>
            <a:srgbClr val="7AF7FF"/>
          </a:solidFill>
          <a:ln/>
        </p:spPr>
      </p:sp>
      <p:sp>
        <p:nvSpPr>
          <p:cNvPr id="11" name="Text 9"/>
          <p:cNvSpPr/>
          <p:nvPr/>
        </p:nvSpPr>
        <p:spPr>
          <a:xfrm>
            <a:off x="4122738" y="2852341"/>
            <a:ext cx="5293478" cy="263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7A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 THE PROJECT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47750" y="3776266"/>
            <a:ext cx="2903538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219200" y="3382566"/>
            <a:ext cx="2647744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dataset (not Kaggle)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951288" y="3776266"/>
            <a:ext cx="5472212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122738" y="3382566"/>
            <a:ext cx="5293478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USCF MSA crosstables, custom-scraped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47750" y="4322366"/>
            <a:ext cx="2903538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219200" y="3935016"/>
            <a:ext cx="2647744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+ EDA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951288" y="4322366"/>
            <a:ext cx="5472212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122738" y="3935016"/>
            <a:ext cx="5293478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repair + 8 EDA charts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47750" y="4868466"/>
            <a:ext cx="2903538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219200" y="4481116"/>
            <a:ext cx="2647744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951288" y="4868466"/>
            <a:ext cx="5472212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122738" y="4481116"/>
            <a:ext cx="5293478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refs in </a:t>
            </a:r>
            <a:pPr algn="l" indent="0" marL="0">
              <a:buNone/>
            </a:pPr>
            <a:r>
              <a:rPr lang="en-US" sz="150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47750" y="5414566"/>
            <a:ext cx="2903538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219200" y="5027216"/>
            <a:ext cx="2647744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model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951288" y="5414566"/>
            <a:ext cx="5472212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122738" y="5027216"/>
            <a:ext cx="5293478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047750" y="5960666"/>
            <a:ext cx="2903538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219200" y="5573316"/>
            <a:ext cx="2647744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comparison + CV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951288" y="5960666"/>
            <a:ext cx="5472212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122738" y="5573316"/>
            <a:ext cx="5293478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+ GB · </a:t>
            </a:r>
            <a:pPr algn="l" indent="0" marL="0">
              <a:buNone/>
            </a:pPr>
            <a:r>
              <a:rPr lang="en-US" sz="1500" dirty="0">
                <a:solidFill>
                  <a:srgbClr val="D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TimeSeriesSplit(5) </a:t>
            </a:r>
            <a:pPr algn="l" indent="0" marL="0">
              <a:buNone/>
            </a:pPr>
            <a:r>
              <a:rPr lang="en-US" sz="150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algn="l" indent="0" marL="0">
              <a:buNone/>
            </a:pPr>
            <a:r>
              <a:rPr lang="en-US" sz="1500" dirty="0">
                <a:solidFill>
                  <a:srgbClr val="D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GridSearchCV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047750" y="6506766"/>
            <a:ext cx="2903538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219200" y="6119416"/>
            <a:ext cx="2647744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3951288" y="6506766"/>
            <a:ext cx="5472212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122738" y="6119416"/>
            <a:ext cx="5293478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70/15/15 + 5-fold time-aware CV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1047750" y="7052866"/>
            <a:ext cx="2903538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219200" y="6665516"/>
            <a:ext cx="2647744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3951288" y="7052866"/>
            <a:ext cx="5472212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122738" y="6665516"/>
            <a:ext cx="5293478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+ live dashboard demo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1047750" y="7598966"/>
            <a:ext cx="2903538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219200" y="7211616"/>
            <a:ext cx="2647744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credit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3951288" y="7598966"/>
            <a:ext cx="5472212" cy="9525"/>
          </a:xfrm>
          <a:prstGeom prst="rect">
            <a:avLst/>
          </a:prstGeom>
          <a:solidFill>
            <a:srgbClr val="7AF7FF">
              <a:alpha val="12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122738" y="7211616"/>
            <a:ext cx="5293478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8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4.7 LLM end-to-end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956899" y="2401491"/>
            <a:ext cx="750175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25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TAKE-HOME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9956899" y="2718991"/>
            <a:ext cx="7283252" cy="2329160"/>
          </a:xfrm>
          <a:prstGeom prst="rect">
            <a:avLst/>
          </a:prstGeom>
          <a:solidFill>
            <a:srgbClr val="A38560">
              <a:alpha val="8000"/>
            </a:srgbClr>
          </a:solidFill>
          <a:ln w="6350">
            <a:solidFill>
              <a:srgbClr val="A38560">
                <a:alpha val="6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306150" y="3093641"/>
            <a:ext cx="3710507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i="1" dirty="0">
                <a:solidFill>
                  <a:srgbClr val="A38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tells you who is favored.</a:t>
            </a:r>
            <a:endParaRPr lang="en-US" sz="2250" dirty="0"/>
          </a:p>
        </p:txBody>
      </p:sp>
      <p:sp>
        <p:nvSpPr>
          <p:cNvPr id="47" name="Text 45"/>
          <p:cNvSpPr/>
          <p:nvPr/>
        </p:nvSpPr>
        <p:spPr>
          <a:xfrm>
            <a:off x="10306150" y="3493691"/>
            <a:ext cx="6656389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i="1" dirty="0">
                <a:solidFill>
                  <a:srgbClr val="A38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Scouting tells you what kind of opponent you're actually facing.</a:t>
            </a:r>
            <a:endParaRPr lang="en-US" sz="2250" dirty="0"/>
          </a:p>
        </p:txBody>
      </p:sp>
      <p:sp>
        <p:nvSpPr>
          <p:cNvPr id="48" name="Text 46"/>
          <p:cNvSpPr/>
          <p:nvPr/>
        </p:nvSpPr>
        <p:spPr>
          <a:xfrm>
            <a:off x="10306150" y="4458891"/>
            <a:ext cx="6782294" cy="2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150" kern="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USCF CYBERDECK SCOUT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9956899" y="5352951"/>
            <a:ext cx="750175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 </a:t>
            </a:r>
            <a:pPr algn="l" indent="0" marL="0">
              <a:buNone/>
            </a:pPr>
            <a:r>
              <a:rPr lang="en-US" sz="1650" dirty="0">
                <a:solidFill>
                  <a:srgbClr val="D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github.com/Ruptzy/uscf-cyberdeck-scout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9956899" y="5727601"/>
            <a:ext cx="7501750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APP https://uscf-cyberdeck-scout-qzte6balppgsm8rwuqk9xb.streamlit.app/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9956899" y="6629301"/>
            <a:ext cx="7501750" cy="552450"/>
          </a:xfrm>
          <a:prstGeom prst="rect">
            <a:avLst/>
          </a:prstGeom>
          <a:noFill/>
          <a:ln/>
          <a:effectLst>
            <a:outerShdw sx="100000" sy="100000" kx="0" ky="0" algn="bl" rotWithShape="0" blurRad="133350" dist="50800" dir="16200000">
              <a:srgbClr val="7AF7FF">
                <a:alpha val="45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spc="450" kern="0" dirty="0">
                <a:solidFill>
                  <a:srgbClr val="7A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QUESTIONS?</a:t>
            </a:r>
            <a:endParaRPr lang="en-US" sz="3300" dirty="0"/>
          </a:p>
        </p:txBody>
      </p:sp>
      <p:sp>
        <p:nvSpPr>
          <p:cNvPr id="52" name="Text 50"/>
          <p:cNvSpPr/>
          <p:nvPr/>
        </p:nvSpPr>
        <p:spPr>
          <a:xfrm>
            <a:off x="14763750" y="6858000"/>
            <a:ext cx="2362200" cy="2324100"/>
          </a:xfrm>
          <a:prstGeom prst="rect">
            <a:avLst/>
          </a:prstGeom>
          <a:noFill/>
          <a:ln/>
          <a:effectLst>
            <a:outerShdw sx="100000" sy="100000" kx="0" ky="0" algn="bl" rotWithShape="0" blurRad="266700" dist="50800" dir="16200000">
              <a:srgbClr val="A38560">
                <a:alpha val="11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0" dirty="0">
                <a:solidFill>
                  <a:srgbClr val="A38560">
                    <a:alpha val="20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♔</a:t>
            </a:r>
            <a:endParaRPr lang="en-US" sz="18000" dirty="0"/>
          </a:p>
        </p:txBody>
      </p:sp>
      <p:sp>
        <p:nvSpPr>
          <p:cNvPr id="53" name="Shape 51"/>
          <p:cNvSpPr/>
          <p:nvPr/>
        </p:nvSpPr>
        <p:spPr>
          <a:xfrm>
            <a:off x="14763750" y="6667500"/>
            <a:ext cx="196850" cy="9525"/>
          </a:xfrm>
          <a:prstGeom prst="rect">
            <a:avLst/>
          </a:prstGeom>
          <a:solidFill>
            <a:srgbClr val="A38560">
              <a:alpha val="7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4763750" y="6667500"/>
            <a:ext cx="9525" cy="196850"/>
          </a:xfrm>
          <a:prstGeom prst="rect">
            <a:avLst/>
          </a:prstGeom>
          <a:solidFill>
            <a:srgbClr val="A38560">
              <a:alpha val="7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7043400" y="6667500"/>
            <a:ext cx="196850" cy="9525"/>
          </a:xfrm>
          <a:prstGeom prst="rect">
            <a:avLst/>
          </a:prstGeom>
          <a:solidFill>
            <a:srgbClr val="A38560">
              <a:alpha val="7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7233900" y="6667500"/>
            <a:ext cx="9525" cy="196850"/>
          </a:xfrm>
          <a:prstGeom prst="rect">
            <a:avLst/>
          </a:prstGeom>
          <a:solidFill>
            <a:srgbClr val="A38560">
              <a:alpha val="7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4763750" y="9137650"/>
            <a:ext cx="196850" cy="9525"/>
          </a:xfrm>
          <a:prstGeom prst="rect">
            <a:avLst/>
          </a:prstGeom>
          <a:solidFill>
            <a:srgbClr val="A38560">
              <a:alpha val="7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4763750" y="8947150"/>
            <a:ext cx="9525" cy="196850"/>
          </a:xfrm>
          <a:prstGeom prst="rect">
            <a:avLst/>
          </a:prstGeom>
          <a:solidFill>
            <a:srgbClr val="A38560">
              <a:alpha val="7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7043400" y="9137650"/>
            <a:ext cx="196850" cy="9525"/>
          </a:xfrm>
          <a:prstGeom prst="rect">
            <a:avLst/>
          </a:prstGeom>
          <a:solidFill>
            <a:srgbClr val="A38560">
              <a:alpha val="7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7233900" y="8947150"/>
            <a:ext cx="9525" cy="196850"/>
          </a:xfrm>
          <a:prstGeom prst="rect">
            <a:avLst/>
          </a:prstGeom>
          <a:solidFill>
            <a:srgbClr val="A38560">
              <a:alpha val="7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266700" y="10013950"/>
            <a:ext cx="273050" cy="9525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266700" y="9747250"/>
            <a:ext cx="9525" cy="273050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7748250" y="10013950"/>
            <a:ext cx="273050" cy="9525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8014950" y="9747250"/>
            <a:ext cx="9525" cy="273050"/>
          </a:xfrm>
          <a:prstGeom prst="rect">
            <a:avLst/>
          </a:prstGeom>
          <a:solidFill>
            <a:srgbClr val="7AF7FF">
              <a:alpha val="35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1047750" y="9766300"/>
            <a:ext cx="455484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7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algn="l" indent="0" marL="0">
              <a:buNone/>
            </a:pPr>
            <a:r>
              <a:rPr lang="en-US" sz="1200" spc="150" kern="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USCF CYBERDECK SCOUT · ML FINAL PROJECT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16520320" y="9766300"/>
            <a:ext cx="79613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8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2026-05-12T09:54:17Z</dcterms:created>
  <dcterms:modified xsi:type="dcterms:W3CDTF">2026-05-12T09:54:17Z</dcterms:modified>
</cp:coreProperties>
</file>